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1" r:id="rId9"/>
    <p:sldId id="262" r:id="rId10"/>
    <p:sldId id="264" r:id="rId11"/>
    <p:sldId id="277" r:id="rId12"/>
    <p:sldId id="290" r:id="rId13"/>
    <p:sldId id="292" r:id="rId14"/>
    <p:sldId id="293" r:id="rId15"/>
    <p:sldId id="286" r:id="rId16"/>
    <p:sldId id="287" r:id="rId17"/>
    <p:sldId id="280" r:id="rId18"/>
    <p:sldId id="288"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A8E0A4-4158-475A-A572-20B390E1ADD3}" v="24" dt="2026-07-10T07:23:45.61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8" d="100"/>
          <a:sy n="68"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Sukanta Kumar Das" userId="7db7b39bd3f58e89" providerId="LiveId" clId="{8F0B504B-4427-4E7A-9737-05B21021739C}"/>
    <pc:docChg chg="undo custSel modSld">
      <pc:chgData name="Dr.Sukanta Kumar Das" userId="7db7b39bd3f58e89" providerId="LiveId" clId="{8F0B504B-4427-4E7A-9737-05B21021739C}" dt="2026-07-10T07:27:58.508" v="245" actId="20577"/>
      <pc:docMkLst>
        <pc:docMk/>
      </pc:docMkLst>
      <pc:sldChg chg="delSp modSp mod">
        <pc:chgData name="Dr.Sukanta Kumar Das" userId="7db7b39bd3f58e89" providerId="LiveId" clId="{8F0B504B-4427-4E7A-9737-05B21021739C}" dt="2026-07-10T07:15:11.007" v="223" actId="478"/>
        <pc:sldMkLst>
          <pc:docMk/>
          <pc:sldMk cId="0" sldId="257"/>
        </pc:sldMkLst>
        <pc:spChg chg="del mod">
          <ac:chgData name="Dr.Sukanta Kumar Das" userId="7db7b39bd3f58e89" providerId="LiveId" clId="{8F0B504B-4427-4E7A-9737-05B21021739C}" dt="2026-07-10T07:15:11.007" v="223" actId="478"/>
          <ac:spMkLst>
            <pc:docMk/>
            <pc:sldMk cId="0" sldId="257"/>
            <ac:spMk id="3" creationId="{B0B023FA-CFEB-ACE9-8425-7E72E307CDC5}"/>
          </ac:spMkLst>
        </pc:spChg>
      </pc:sldChg>
      <pc:sldChg chg="addSp delSp modSp mod">
        <pc:chgData name="Dr.Sukanta Kumar Das" userId="7db7b39bd3f58e89" providerId="LiveId" clId="{8F0B504B-4427-4E7A-9737-05B21021739C}" dt="2026-07-10T06:02:37.820" v="88" actId="14100"/>
        <pc:sldMkLst>
          <pc:docMk/>
          <pc:sldMk cId="0" sldId="262"/>
        </pc:sldMkLst>
        <pc:picChg chg="del">
          <ac:chgData name="Dr.Sukanta Kumar Das" userId="7db7b39bd3f58e89" providerId="LiveId" clId="{8F0B504B-4427-4E7A-9737-05B21021739C}" dt="2026-07-10T06:02:22.337" v="82" actId="478"/>
          <ac:picMkLst>
            <pc:docMk/>
            <pc:sldMk cId="0" sldId="262"/>
            <ac:picMk id="3" creationId="{81932CE2-F219-0CA8-0102-55B8C682B8A2}"/>
          </ac:picMkLst>
        </pc:picChg>
        <pc:picChg chg="add mod">
          <ac:chgData name="Dr.Sukanta Kumar Das" userId="7db7b39bd3f58e89" providerId="LiveId" clId="{8F0B504B-4427-4E7A-9737-05B21021739C}" dt="2026-07-10T06:02:37.820" v="88" actId="14100"/>
          <ac:picMkLst>
            <pc:docMk/>
            <pc:sldMk cId="0" sldId="262"/>
            <ac:picMk id="5" creationId="{8FD7300A-2EB8-D9BD-0FF6-500A7F8BF8D5}"/>
          </ac:picMkLst>
        </pc:picChg>
      </pc:sldChg>
      <pc:sldChg chg="addSp delSp modSp mod">
        <pc:chgData name="Dr.Sukanta Kumar Das" userId="7db7b39bd3f58e89" providerId="LiveId" clId="{8F0B504B-4427-4E7A-9737-05B21021739C}" dt="2026-07-10T07:25:41.585" v="242" actId="14100"/>
        <pc:sldMkLst>
          <pc:docMk/>
          <pc:sldMk cId="0" sldId="264"/>
        </pc:sldMkLst>
        <pc:spChg chg="mod">
          <ac:chgData name="Dr.Sukanta Kumar Das" userId="7db7b39bd3f58e89" providerId="LiveId" clId="{8F0B504B-4427-4E7A-9737-05B21021739C}" dt="2026-07-10T07:23:54.910" v="238" actId="20577"/>
          <ac:spMkLst>
            <pc:docMk/>
            <pc:sldMk cId="0" sldId="264"/>
            <ac:spMk id="3" creationId="{322462E8-EB3A-DA7D-44CB-4E757803A755}"/>
          </ac:spMkLst>
        </pc:spChg>
        <pc:picChg chg="add mod">
          <ac:chgData name="Dr.Sukanta Kumar Das" userId="7db7b39bd3f58e89" providerId="LiveId" clId="{8F0B504B-4427-4E7A-9737-05B21021739C}" dt="2026-07-10T07:25:41.585" v="242" actId="14100"/>
          <ac:picMkLst>
            <pc:docMk/>
            <pc:sldMk cId="0" sldId="264"/>
            <ac:picMk id="4" creationId="{2B2CB2C5-858F-089D-7B4F-D53C45851452}"/>
          </ac:picMkLst>
        </pc:picChg>
        <pc:picChg chg="del">
          <ac:chgData name="Dr.Sukanta Kumar Das" userId="7db7b39bd3f58e89" providerId="LiveId" clId="{8F0B504B-4427-4E7A-9737-05B21021739C}" dt="2026-07-10T07:25:35.758" v="240" actId="478"/>
          <ac:picMkLst>
            <pc:docMk/>
            <pc:sldMk cId="0" sldId="264"/>
            <ac:picMk id="196" creationId="{00000000-0000-0000-0000-000000000000}"/>
          </ac:picMkLst>
        </pc:picChg>
      </pc:sldChg>
      <pc:sldChg chg="addSp delSp modSp mod">
        <pc:chgData name="Dr.Sukanta Kumar Das" userId="7db7b39bd3f58e89" providerId="LiveId" clId="{8F0B504B-4427-4E7A-9737-05B21021739C}" dt="2026-07-10T06:38:56.110" v="123" actId="14100"/>
        <pc:sldMkLst>
          <pc:docMk/>
          <pc:sldMk cId="2115484872" sldId="277"/>
        </pc:sldMkLst>
        <pc:spChg chg="mod">
          <ac:chgData name="Dr.Sukanta Kumar Das" userId="7db7b39bd3f58e89" providerId="LiveId" clId="{8F0B504B-4427-4E7A-9737-05B21021739C}" dt="2026-07-10T06:20:51.049" v="103" actId="6549"/>
          <ac:spMkLst>
            <pc:docMk/>
            <pc:sldMk cId="2115484872" sldId="277"/>
            <ac:spMk id="5" creationId="{1BD576A0-BF64-32B6-1E59-49AA2C59C5CE}"/>
          </ac:spMkLst>
        </pc:spChg>
        <pc:picChg chg="add mod modCrop">
          <ac:chgData name="Dr.Sukanta Kumar Das" userId="7db7b39bd3f58e89" providerId="LiveId" clId="{8F0B504B-4427-4E7A-9737-05B21021739C}" dt="2026-07-10T06:20:32.481" v="98" actId="1076"/>
          <ac:picMkLst>
            <pc:docMk/>
            <pc:sldMk cId="2115484872" sldId="277"/>
            <ac:picMk id="3" creationId="{D3C243AA-DC76-E191-DFD4-6CBCD00EF019}"/>
          </ac:picMkLst>
        </pc:picChg>
        <pc:picChg chg="add del mod modCrop">
          <ac:chgData name="Dr.Sukanta Kumar Das" userId="7db7b39bd3f58e89" providerId="LiveId" clId="{8F0B504B-4427-4E7A-9737-05B21021739C}" dt="2026-07-10T06:37:43.807" v="114" actId="478"/>
          <ac:picMkLst>
            <pc:docMk/>
            <pc:sldMk cId="2115484872" sldId="277"/>
            <ac:picMk id="6" creationId="{1F197E7F-606F-5623-2EA2-B6A4A5E2243F}"/>
          </ac:picMkLst>
        </pc:picChg>
        <pc:picChg chg="add mod modCrop">
          <ac:chgData name="Dr.Sukanta Kumar Das" userId="7db7b39bd3f58e89" providerId="LiveId" clId="{8F0B504B-4427-4E7A-9737-05B21021739C}" dt="2026-07-10T06:38:56.110" v="123" actId="14100"/>
          <ac:picMkLst>
            <pc:docMk/>
            <pc:sldMk cId="2115484872" sldId="277"/>
            <ac:picMk id="8" creationId="{D6B310D3-4EFB-FEA4-1FBB-56E1B64CA0A5}"/>
          </ac:picMkLst>
        </pc:picChg>
        <pc:picChg chg="del">
          <ac:chgData name="Dr.Sukanta Kumar Das" userId="7db7b39bd3f58e89" providerId="LiveId" clId="{8F0B504B-4427-4E7A-9737-05B21021739C}" dt="2026-07-10T06:27:54.966" v="104" actId="478"/>
          <ac:picMkLst>
            <pc:docMk/>
            <pc:sldMk cId="2115484872" sldId="277"/>
            <ac:picMk id="12" creationId="{3E29AF1D-88C4-87E5-74DF-4E97121E06CE}"/>
          </ac:picMkLst>
        </pc:picChg>
        <pc:picChg chg="del">
          <ac:chgData name="Dr.Sukanta Kumar Das" userId="7db7b39bd3f58e89" providerId="LiveId" clId="{8F0B504B-4427-4E7A-9737-05B21021739C}" dt="2026-07-10T06:19:08.678" v="89" actId="478"/>
          <ac:picMkLst>
            <pc:docMk/>
            <pc:sldMk cId="2115484872" sldId="277"/>
            <ac:picMk id="13" creationId="{C81444F5-0692-DD67-1759-70821E53B029}"/>
          </ac:picMkLst>
        </pc:picChg>
      </pc:sldChg>
      <pc:sldChg chg="addSp delSp modSp mod">
        <pc:chgData name="Dr.Sukanta Kumar Das" userId="7db7b39bd3f58e89" providerId="LiveId" clId="{8F0B504B-4427-4E7A-9737-05B21021739C}" dt="2026-07-10T07:19:02.071" v="229" actId="14100"/>
        <pc:sldMkLst>
          <pc:docMk/>
          <pc:sldMk cId="2772501912" sldId="279"/>
        </pc:sldMkLst>
        <pc:picChg chg="add mod">
          <ac:chgData name="Dr.Sukanta Kumar Das" userId="7db7b39bd3f58e89" providerId="LiveId" clId="{8F0B504B-4427-4E7A-9737-05B21021739C}" dt="2026-07-10T07:19:02.071" v="229" actId="14100"/>
          <ac:picMkLst>
            <pc:docMk/>
            <pc:sldMk cId="2772501912" sldId="279"/>
            <ac:picMk id="4" creationId="{1A91BF56-233A-DAE7-6B98-F16F178FA094}"/>
          </ac:picMkLst>
        </pc:picChg>
        <pc:picChg chg="del">
          <ac:chgData name="Dr.Sukanta Kumar Das" userId="7db7b39bd3f58e89" providerId="LiveId" clId="{8F0B504B-4427-4E7A-9737-05B21021739C}" dt="2026-07-10T07:18:21.314" v="224" actId="478"/>
          <ac:picMkLst>
            <pc:docMk/>
            <pc:sldMk cId="2772501912" sldId="279"/>
            <ac:picMk id="5" creationId="{5DC7512A-0AA7-CC22-D1D2-C738BF12660E}"/>
          </ac:picMkLst>
        </pc:picChg>
      </pc:sldChg>
      <pc:sldChg chg="modSp mod">
        <pc:chgData name="Dr.Sukanta Kumar Das" userId="7db7b39bd3f58e89" providerId="LiveId" clId="{8F0B504B-4427-4E7A-9737-05B21021739C}" dt="2026-07-10T07:05:38.599" v="200" actId="20577"/>
        <pc:sldMkLst>
          <pc:docMk/>
          <pc:sldMk cId="2136706720" sldId="280"/>
        </pc:sldMkLst>
        <pc:spChg chg="mod">
          <ac:chgData name="Dr.Sukanta Kumar Das" userId="7db7b39bd3f58e89" providerId="LiveId" clId="{8F0B504B-4427-4E7A-9737-05B21021739C}" dt="2026-07-10T07:05:38.599" v="200" actId="20577"/>
          <ac:spMkLst>
            <pc:docMk/>
            <pc:sldMk cId="2136706720" sldId="280"/>
            <ac:spMk id="279" creationId="{EAFA16CB-0A72-5AC5-69A0-ABF4A752B43F}"/>
          </ac:spMkLst>
        </pc:spChg>
      </pc:sldChg>
      <pc:sldChg chg="addSp delSp modSp mod">
        <pc:chgData name="Dr.Sukanta Kumar Das" userId="7db7b39bd3f58e89" providerId="LiveId" clId="{8F0B504B-4427-4E7A-9737-05B21021739C}" dt="2026-07-10T05:57:40.846" v="81" actId="1076"/>
        <pc:sldMkLst>
          <pc:docMk/>
          <pc:sldMk cId="328526394" sldId="281"/>
        </pc:sldMkLst>
        <pc:spChg chg="mod">
          <ac:chgData name="Dr.Sukanta Kumar Das" userId="7db7b39bd3f58e89" providerId="LiveId" clId="{8F0B504B-4427-4E7A-9737-05B21021739C}" dt="2026-07-10T05:57:14.465" v="80" actId="6549"/>
          <ac:spMkLst>
            <pc:docMk/>
            <pc:sldMk cId="328526394" sldId="281"/>
            <ac:spMk id="2" creationId="{9BB86949-7ED1-C43B-B1E3-5122BB67A596}"/>
          </ac:spMkLst>
        </pc:spChg>
        <pc:spChg chg="del">
          <ac:chgData name="Dr.Sukanta Kumar Das" userId="7db7b39bd3f58e89" providerId="LiveId" clId="{8F0B504B-4427-4E7A-9737-05B21021739C}" dt="2026-07-10T05:51:25.498" v="5" actId="478"/>
          <ac:spMkLst>
            <pc:docMk/>
            <pc:sldMk cId="328526394" sldId="281"/>
            <ac:spMk id="9" creationId="{6FFF7BC6-93D0-8D42-34B7-C226B1B96C2D}"/>
          </ac:spMkLst>
        </pc:spChg>
        <pc:spChg chg="del">
          <ac:chgData name="Dr.Sukanta Kumar Das" userId="7db7b39bd3f58e89" providerId="LiveId" clId="{8F0B504B-4427-4E7A-9737-05B21021739C}" dt="2026-07-10T05:51:27.845" v="6" actId="478"/>
          <ac:spMkLst>
            <pc:docMk/>
            <pc:sldMk cId="328526394" sldId="281"/>
            <ac:spMk id="10" creationId="{A6C81E80-ED7B-4240-A8EE-0221D9ACD900}"/>
          </ac:spMkLst>
        </pc:spChg>
        <pc:picChg chg="add mod">
          <ac:chgData name="Dr.Sukanta Kumar Das" userId="7db7b39bd3f58e89" providerId="LiveId" clId="{8F0B504B-4427-4E7A-9737-05B21021739C}" dt="2026-07-10T05:57:40.846" v="81" actId="1076"/>
          <ac:picMkLst>
            <pc:docMk/>
            <pc:sldMk cId="328526394" sldId="281"/>
            <ac:picMk id="4" creationId="{35876147-1AF3-1687-B130-A61FA0DA9B3E}"/>
          </ac:picMkLst>
        </pc:picChg>
        <pc:picChg chg="del">
          <ac:chgData name="Dr.Sukanta Kumar Das" userId="7db7b39bd3f58e89" providerId="LiveId" clId="{8F0B504B-4427-4E7A-9737-05B21021739C}" dt="2026-07-10T05:51:14.572" v="3" actId="478"/>
          <ac:picMkLst>
            <pc:docMk/>
            <pc:sldMk cId="328526394" sldId="281"/>
            <ac:picMk id="5" creationId="{61F38907-89DE-28F7-316F-44E7DAB9309E}"/>
          </ac:picMkLst>
        </pc:picChg>
      </pc:sldChg>
      <pc:sldChg chg="modSp mod">
        <pc:chgData name="Dr.Sukanta Kumar Das" userId="7db7b39bd3f58e89" providerId="LiveId" clId="{8F0B504B-4427-4E7A-9737-05B21021739C}" dt="2026-07-10T06:54:39.836" v="175" actId="20577"/>
        <pc:sldMkLst>
          <pc:docMk/>
          <pc:sldMk cId="917964102" sldId="286"/>
        </pc:sldMkLst>
        <pc:spChg chg="mod">
          <ac:chgData name="Dr.Sukanta Kumar Das" userId="7db7b39bd3f58e89" providerId="LiveId" clId="{8F0B504B-4427-4E7A-9737-05B21021739C}" dt="2026-07-10T06:54:14.190" v="174" actId="14100"/>
          <ac:spMkLst>
            <pc:docMk/>
            <pc:sldMk cId="917964102" sldId="286"/>
            <ac:spMk id="2" creationId="{6FA184BA-BCF2-3D7B-30D0-0F3CF30C161B}"/>
          </ac:spMkLst>
        </pc:spChg>
        <pc:spChg chg="mod">
          <ac:chgData name="Dr.Sukanta Kumar Das" userId="7db7b39bd3f58e89" providerId="LiveId" clId="{8F0B504B-4427-4E7A-9737-05B21021739C}" dt="2026-07-10T06:54:39.836" v="175" actId="20577"/>
          <ac:spMkLst>
            <pc:docMk/>
            <pc:sldMk cId="917964102" sldId="286"/>
            <ac:spMk id="3" creationId="{ED65F54F-855A-0DB6-09A6-3212C5F7405B}"/>
          </ac:spMkLst>
        </pc:spChg>
      </pc:sldChg>
      <pc:sldChg chg="modSp mod">
        <pc:chgData name="Dr.Sukanta Kumar Das" userId="7db7b39bd3f58e89" providerId="LiveId" clId="{8F0B504B-4427-4E7A-9737-05B21021739C}" dt="2026-07-10T07:27:58.508" v="245" actId="20577"/>
        <pc:sldMkLst>
          <pc:docMk/>
          <pc:sldMk cId="2605851928" sldId="287"/>
        </pc:sldMkLst>
        <pc:spChg chg="mod">
          <ac:chgData name="Dr.Sukanta Kumar Das" userId="7db7b39bd3f58e89" providerId="LiveId" clId="{8F0B504B-4427-4E7A-9737-05B21021739C}" dt="2026-07-10T07:27:58.508" v="245" actId="20577"/>
          <ac:spMkLst>
            <pc:docMk/>
            <pc:sldMk cId="2605851928" sldId="287"/>
            <ac:spMk id="279" creationId="{3711AF54-94A6-B837-31EF-9A8C4ECB9AF6}"/>
          </ac:spMkLst>
        </pc:spChg>
      </pc:sldChg>
      <pc:sldChg chg="addSp delSp modSp mod">
        <pc:chgData name="Dr.Sukanta Kumar Das" userId="7db7b39bd3f58e89" providerId="LiveId" clId="{8F0B504B-4427-4E7A-9737-05B21021739C}" dt="2026-07-10T07:08:21.395" v="210" actId="478"/>
        <pc:sldMkLst>
          <pc:docMk/>
          <pc:sldMk cId="1229047658" sldId="288"/>
        </pc:sldMkLst>
        <pc:spChg chg="del">
          <ac:chgData name="Dr.Sukanta Kumar Das" userId="7db7b39bd3f58e89" providerId="LiveId" clId="{8F0B504B-4427-4E7A-9737-05B21021739C}" dt="2026-07-10T07:08:21.395" v="210" actId="478"/>
          <ac:spMkLst>
            <pc:docMk/>
            <pc:sldMk cId="1229047658" sldId="288"/>
            <ac:spMk id="3" creationId="{4837D5EE-379B-FDC5-0854-8AC81D31FADF}"/>
          </ac:spMkLst>
        </pc:spChg>
        <pc:picChg chg="del">
          <ac:chgData name="Dr.Sukanta Kumar Das" userId="7db7b39bd3f58e89" providerId="LiveId" clId="{8F0B504B-4427-4E7A-9737-05B21021739C}" dt="2026-07-10T07:07:52.391" v="205" actId="478"/>
          <ac:picMkLst>
            <pc:docMk/>
            <pc:sldMk cId="1229047658" sldId="288"/>
            <ac:picMk id="4" creationId="{AD88C341-1F2F-9B6F-593F-2917E7E23DCB}"/>
          </ac:picMkLst>
        </pc:picChg>
        <pc:picChg chg="add mod modCrop">
          <ac:chgData name="Dr.Sukanta Kumar Das" userId="7db7b39bd3f58e89" providerId="LiveId" clId="{8F0B504B-4427-4E7A-9737-05B21021739C}" dt="2026-07-10T07:08:05.321" v="209" actId="1076"/>
          <ac:picMkLst>
            <pc:docMk/>
            <pc:sldMk cId="1229047658" sldId="288"/>
            <ac:picMk id="5" creationId="{91A65000-E00C-CE65-8439-1C653B5D610C}"/>
          </ac:picMkLst>
        </pc:picChg>
      </pc:sldChg>
      <pc:sldChg chg="addSp delSp modSp mod">
        <pc:chgData name="Dr.Sukanta Kumar Das" userId="7db7b39bd3f58e89" providerId="LiveId" clId="{8F0B504B-4427-4E7A-9737-05B21021739C}" dt="2026-07-10T07:10:49.071" v="221" actId="1076"/>
        <pc:sldMkLst>
          <pc:docMk/>
          <pc:sldMk cId="2506610743" sldId="289"/>
        </pc:sldMkLst>
        <pc:spChg chg="del">
          <ac:chgData name="Dr.Sukanta Kumar Das" userId="7db7b39bd3f58e89" providerId="LiveId" clId="{8F0B504B-4427-4E7A-9737-05B21021739C}" dt="2026-07-10T07:10:46.461" v="220" actId="478"/>
          <ac:spMkLst>
            <pc:docMk/>
            <pc:sldMk cId="2506610743" sldId="289"/>
            <ac:spMk id="6" creationId="{C0D36B1A-26C2-CD55-1032-4CB5E4EDF305}"/>
          </ac:spMkLst>
        </pc:spChg>
        <pc:picChg chg="add mod modCrop">
          <ac:chgData name="Dr.Sukanta Kumar Das" userId="7db7b39bd3f58e89" providerId="LiveId" clId="{8F0B504B-4427-4E7A-9737-05B21021739C}" dt="2026-07-10T07:10:49.071" v="221" actId="1076"/>
          <ac:picMkLst>
            <pc:docMk/>
            <pc:sldMk cId="2506610743" sldId="289"/>
            <ac:picMk id="3" creationId="{7B6D0C89-66C7-8DCE-8F71-E94DF034F9CA}"/>
          </ac:picMkLst>
        </pc:picChg>
        <pc:picChg chg="del">
          <ac:chgData name="Dr.Sukanta Kumar Das" userId="7db7b39bd3f58e89" providerId="LiveId" clId="{8F0B504B-4427-4E7A-9737-05B21021739C}" dt="2026-07-10T07:09:55.118" v="216" actId="478"/>
          <ac:picMkLst>
            <pc:docMk/>
            <pc:sldMk cId="2506610743" sldId="289"/>
            <ac:picMk id="4" creationId="{099C3698-991D-7A38-C456-893C84C23FC9}"/>
          </ac:picMkLst>
        </pc:picChg>
      </pc:sldChg>
      <pc:sldChg chg="addSp delSp modSp mod">
        <pc:chgData name="Dr.Sukanta Kumar Das" userId="7db7b39bd3f58e89" providerId="LiveId" clId="{8F0B504B-4427-4E7A-9737-05B21021739C}" dt="2026-07-10T06:43:12.946" v="130" actId="14100"/>
        <pc:sldMkLst>
          <pc:docMk/>
          <pc:sldMk cId="1429961814" sldId="290"/>
        </pc:sldMkLst>
        <pc:spChg chg="del">
          <ac:chgData name="Dr.Sukanta Kumar Das" userId="7db7b39bd3f58e89" providerId="LiveId" clId="{8F0B504B-4427-4E7A-9737-05B21021739C}" dt="2026-07-10T06:42:37.742" v="125" actId="478"/>
          <ac:spMkLst>
            <pc:docMk/>
            <pc:sldMk cId="1429961814" sldId="290"/>
            <ac:spMk id="2" creationId="{CCA977A3-5FA0-8FF5-E1D1-86C9ED676512}"/>
          </ac:spMkLst>
        </pc:spChg>
        <pc:picChg chg="del">
          <ac:chgData name="Dr.Sukanta Kumar Das" userId="7db7b39bd3f58e89" providerId="LiveId" clId="{8F0B504B-4427-4E7A-9737-05B21021739C}" dt="2026-07-10T06:42:26.852" v="124" actId="478"/>
          <ac:picMkLst>
            <pc:docMk/>
            <pc:sldMk cId="1429961814" sldId="290"/>
            <ac:picMk id="4" creationId="{E430EE8C-8F89-5938-483F-00452050511A}"/>
          </ac:picMkLst>
        </pc:picChg>
        <pc:picChg chg="add mod">
          <ac:chgData name="Dr.Sukanta Kumar Das" userId="7db7b39bd3f58e89" providerId="LiveId" clId="{8F0B504B-4427-4E7A-9737-05B21021739C}" dt="2026-07-10T06:43:12.946" v="130" actId="14100"/>
          <ac:picMkLst>
            <pc:docMk/>
            <pc:sldMk cId="1429961814" sldId="290"/>
            <ac:picMk id="5" creationId="{E8F6CCB7-52E1-F8E7-1E1F-039B1487AEF4}"/>
          </ac:picMkLst>
        </pc:picChg>
      </pc:sldChg>
      <pc:sldChg chg="addSp delSp modSp mod">
        <pc:chgData name="Dr.Sukanta Kumar Das" userId="7db7b39bd3f58e89" providerId="LiveId" clId="{8F0B504B-4427-4E7A-9737-05B21021739C}" dt="2026-07-10T07:20:41.118" v="233" actId="14100"/>
        <pc:sldMkLst>
          <pc:docMk/>
          <pc:sldMk cId="232371894" sldId="291"/>
        </pc:sldMkLst>
        <pc:picChg chg="add mod">
          <ac:chgData name="Dr.Sukanta Kumar Das" userId="7db7b39bd3f58e89" providerId="LiveId" clId="{8F0B504B-4427-4E7A-9737-05B21021739C}" dt="2026-07-10T07:20:41.118" v="233" actId="14100"/>
          <ac:picMkLst>
            <pc:docMk/>
            <pc:sldMk cId="232371894" sldId="291"/>
            <ac:picMk id="3" creationId="{94A98CF0-4D57-2768-6206-66F0853C8D5E}"/>
          </ac:picMkLst>
        </pc:picChg>
        <pc:picChg chg="del">
          <ac:chgData name="Dr.Sukanta Kumar Das" userId="7db7b39bd3f58e89" providerId="LiveId" clId="{8F0B504B-4427-4E7A-9737-05B21021739C}" dt="2026-07-10T07:20:22.805" v="230" actId="478"/>
          <ac:picMkLst>
            <pc:docMk/>
            <pc:sldMk cId="232371894" sldId="291"/>
            <ac:picMk id="5" creationId="{433A290A-6680-D490-E6D4-9336496B1C34}"/>
          </ac:picMkLst>
        </pc:picChg>
      </pc:sldChg>
      <pc:sldChg chg="addSp delSp modSp mod">
        <pc:chgData name="Dr.Sukanta Kumar Das" userId="7db7b39bd3f58e89" providerId="LiveId" clId="{8F0B504B-4427-4E7A-9737-05B21021739C}" dt="2026-07-10T06:45:41.523" v="148" actId="14100"/>
        <pc:sldMkLst>
          <pc:docMk/>
          <pc:sldMk cId="3585092305" sldId="292"/>
        </pc:sldMkLst>
        <pc:spChg chg="del">
          <ac:chgData name="Dr.Sukanta Kumar Das" userId="7db7b39bd3f58e89" providerId="LiveId" clId="{8F0B504B-4427-4E7A-9737-05B21021739C}" dt="2026-07-10T06:43:57.086" v="132" actId="478"/>
          <ac:spMkLst>
            <pc:docMk/>
            <pc:sldMk cId="3585092305" sldId="292"/>
            <ac:spMk id="2" creationId="{9692D13D-6B69-03D8-BA22-587B943A2572}"/>
          </ac:spMkLst>
        </pc:spChg>
        <pc:picChg chg="add del mod">
          <ac:chgData name="Dr.Sukanta Kumar Das" userId="7db7b39bd3f58e89" providerId="LiveId" clId="{8F0B504B-4427-4E7A-9737-05B21021739C}" dt="2026-07-10T06:44:57.633" v="140" actId="21"/>
          <ac:picMkLst>
            <pc:docMk/>
            <pc:sldMk cId="3585092305" sldId="292"/>
            <ac:picMk id="4" creationId="{BF3E43CF-2EF4-EEE1-F654-BAB402F02206}"/>
          </ac:picMkLst>
        </pc:picChg>
        <pc:picChg chg="del">
          <ac:chgData name="Dr.Sukanta Kumar Das" userId="7db7b39bd3f58e89" providerId="LiveId" clId="{8F0B504B-4427-4E7A-9737-05B21021739C}" dt="2026-07-10T06:43:54.383" v="131" actId="478"/>
          <ac:picMkLst>
            <pc:docMk/>
            <pc:sldMk cId="3585092305" sldId="292"/>
            <ac:picMk id="5" creationId="{146B9DE6-C4BB-B81B-528A-B8789445C3FE}"/>
          </ac:picMkLst>
        </pc:picChg>
        <pc:picChg chg="add mod">
          <ac:chgData name="Dr.Sukanta Kumar Das" userId="7db7b39bd3f58e89" providerId="LiveId" clId="{8F0B504B-4427-4E7A-9737-05B21021739C}" dt="2026-07-10T06:45:41.523" v="148" actId="14100"/>
          <ac:picMkLst>
            <pc:docMk/>
            <pc:sldMk cId="3585092305" sldId="292"/>
            <ac:picMk id="7" creationId="{54919577-A746-E6AB-F30B-2BE16BAFD0C3}"/>
          </ac:picMkLst>
        </pc:picChg>
      </pc:sldChg>
      <pc:sldChg chg="addSp delSp modSp mod">
        <pc:chgData name="Dr.Sukanta Kumar Das" userId="7db7b39bd3f58e89" providerId="LiveId" clId="{8F0B504B-4427-4E7A-9737-05B21021739C}" dt="2026-07-10T06:45:10.851" v="144" actId="14100"/>
        <pc:sldMkLst>
          <pc:docMk/>
          <pc:sldMk cId="2601907186" sldId="293"/>
        </pc:sldMkLst>
        <pc:spChg chg="del">
          <ac:chgData name="Dr.Sukanta Kumar Das" userId="7db7b39bd3f58e89" providerId="LiveId" clId="{8F0B504B-4427-4E7A-9737-05B21021739C}" dt="2026-07-10T06:45:03.565" v="142" actId="478"/>
          <ac:spMkLst>
            <pc:docMk/>
            <pc:sldMk cId="2601907186" sldId="293"/>
            <ac:spMk id="2" creationId="{EB55001C-8880-8B09-8704-29D3F62E7A03}"/>
          </ac:spMkLst>
        </pc:spChg>
        <pc:picChg chg="add del">
          <ac:chgData name="Dr.Sukanta Kumar Das" userId="7db7b39bd3f58e89" providerId="LiveId" clId="{8F0B504B-4427-4E7A-9737-05B21021739C}" dt="2026-07-10T06:45:01.070" v="141" actId="478"/>
          <ac:picMkLst>
            <pc:docMk/>
            <pc:sldMk cId="2601907186" sldId="293"/>
            <ac:picMk id="4" creationId="{BA6C1B5E-405A-0E58-2397-353A88D82B9B}"/>
          </ac:picMkLst>
        </pc:picChg>
        <pc:picChg chg="add mod">
          <ac:chgData name="Dr.Sukanta Kumar Das" userId="7db7b39bd3f58e89" providerId="LiveId" clId="{8F0B504B-4427-4E7A-9737-05B21021739C}" dt="2026-07-10T06:45:10.851" v="144" actId="14100"/>
          <ac:picMkLst>
            <pc:docMk/>
            <pc:sldMk cId="2601907186" sldId="293"/>
            <ac:picMk id="5" creationId="{DD8B1285-F9C4-55F5-C8E7-3AC6EFC3480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85914171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sz="1800" b="0" i="0" u="none" strike="noStrike" cap="none" dirty="0">
                          <a:solidFill>
                            <a:srgbClr val="000000"/>
                          </a:solidFill>
                          <a:latin typeface="Arial"/>
                          <a:cs typeface="Arial"/>
                          <a:sym typeface="Arial"/>
                        </a:rPr>
                        <a:t>Dr</a:t>
                      </a:r>
                      <a:r>
                        <a:rPr lang="en-IN" dirty="0"/>
                        <a:t>. </a:t>
                      </a:r>
                      <a:r>
                        <a:rPr lang="en-IN" sz="1800" b="0" i="0" u="none" strike="noStrike" cap="none" dirty="0">
                          <a:solidFill>
                            <a:srgbClr val="000000"/>
                          </a:solidFill>
                          <a:latin typeface="Arial"/>
                          <a:cs typeface="Arial"/>
                          <a:sym typeface="Arial"/>
                        </a:rPr>
                        <a:t>Sukanta</a:t>
                      </a:r>
                      <a:r>
                        <a:rPr lang="en-IN" dirty="0"/>
                        <a:t> </a:t>
                      </a:r>
                      <a:r>
                        <a:rPr lang="en-IN" sz="1800" b="0" i="0" u="none" strike="noStrike" cap="none" dirty="0">
                          <a:solidFill>
                            <a:srgbClr val="000000"/>
                          </a:solidFill>
                          <a:latin typeface="Arial"/>
                          <a:cs typeface="Arial"/>
                          <a:sym typeface="Arial"/>
                        </a:rPr>
                        <a:t>Kumar</a:t>
                      </a:r>
                      <a:r>
                        <a:rPr lang="en-IN" dirty="0"/>
                        <a:t> </a:t>
                      </a:r>
                      <a:r>
                        <a:rPr lang="en-IN" sz="1800" b="0" i="0" u="none" strike="noStrike" cap="none" dirty="0">
                          <a:solidFill>
                            <a:srgbClr val="000000"/>
                          </a:solidFill>
                          <a:latin typeface="Arial"/>
                          <a:cs typeface="Arial"/>
                          <a:sym typeface="Arial"/>
                        </a:rPr>
                        <a:t>Das</a:t>
                      </a:r>
                      <a:endParaRPr sz="1800" b="0" i="0" u="none" strike="noStrike" cap="none" dirty="0">
                        <a:solidFill>
                          <a:srgbClr val="000000"/>
                        </a:solidFill>
                        <a:latin typeface="Arial"/>
                        <a:cs typeface="Arial"/>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1800" b="0" i="0" u="none" strike="noStrike" cap="none" dirty="0">
                          <a:solidFill>
                            <a:srgbClr val="000000"/>
                          </a:solidFill>
                          <a:latin typeface="Arial"/>
                          <a:cs typeface="Arial"/>
                          <a:sym typeface="Arial"/>
                        </a:rPr>
                        <a:t>Sukanta</a:t>
                      </a:r>
                      <a:r>
                        <a:rPr lang="en-IN" dirty="0"/>
                        <a:t>.</a:t>
                      </a:r>
                      <a:r>
                        <a:rPr lang="en-IN" sz="1800" b="0" i="0" u="none" strike="noStrike" cap="none" dirty="0">
                          <a:solidFill>
                            <a:srgbClr val="000000"/>
                          </a:solidFill>
                          <a:latin typeface="Arial"/>
                          <a:cs typeface="Arial"/>
                          <a:sym typeface="Arial"/>
                        </a:rPr>
                        <a:t>d@srisriuniversity.edu.in</a:t>
                      </a:r>
                      <a:endParaRPr sz="1800" b="0" i="0" u="none" strike="noStrike" cap="none" dirty="0">
                        <a:solidFill>
                          <a:srgbClr val="000000"/>
                        </a:solidFill>
                        <a:latin typeface="Arial"/>
                        <a:cs typeface="Arial"/>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1800" b="0" i="0" u="none" strike="noStrike" cap="none" dirty="0">
                          <a:solidFill>
                            <a:srgbClr val="000000"/>
                          </a:solidFill>
                          <a:latin typeface="Arial"/>
                          <a:cs typeface="Arial"/>
                          <a:sym typeface="Arial"/>
                        </a:rPr>
                        <a:t>9861383101</a:t>
                      </a:r>
                      <a:endParaRPr sz="1800" b="0" i="0" u="none" strike="noStrike" cap="none" dirty="0">
                        <a:solidFill>
                          <a:srgbClr val="000000"/>
                        </a:solidFill>
                        <a:latin typeface="Arial"/>
                        <a:cs typeface="Arial"/>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endParaRPr lang="en-US" sz="2400" b="1" dirty="0"/>
          </a:p>
          <a:p>
            <a:r>
              <a:rPr lang="en-US" sz="2400" b="1" dirty="0"/>
              <a:t>Domain of  Project – Education </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1200329"/>
          </a:xfrm>
          <a:prstGeom prst="rect">
            <a:avLst/>
          </a:prstGeom>
          <a:noFill/>
        </p:spPr>
        <p:txBody>
          <a:bodyPr wrap="square" rtlCol="0">
            <a:spAutoFit/>
          </a:bodyPr>
          <a:lstStyle/>
          <a:p>
            <a:r>
              <a:rPr lang="en-US" sz="2400" b="1" dirty="0"/>
              <a:t>Project Tile –  </a:t>
            </a:r>
            <a:r>
              <a:rPr lang="en-US" sz="2400" b="1" dirty="0" err="1"/>
              <a:t>ResearchMind</a:t>
            </a:r>
            <a:r>
              <a:rPr lang="en-US" sz="2400" b="1" dirty="0"/>
              <a:t> AI – An Agentic AI Research 			   Companion for Intelligent Literature Analysis and 		   Research Discovery</a:t>
            </a:r>
            <a:endParaRPr lang="en-IN" sz="2400" b="1" dirty="0"/>
          </a:p>
        </p:txBody>
      </p:sp>
      <p:pic>
        <p:nvPicPr>
          <p:cNvPr id="5" name="Picture 4">
            <a:extLst>
              <a:ext uri="{FF2B5EF4-FFF2-40B4-BE49-F238E27FC236}">
                <a16:creationId xmlns:a16="http://schemas.microsoft.com/office/drawing/2014/main" id="{BBA2E5CA-F1E1-1E4B-F023-97EBB227FDFD}"/>
              </a:ext>
            </a:extLst>
          </p:cNvPr>
          <p:cNvPicPr>
            <a:picLocks noChangeAspect="1"/>
          </p:cNvPicPr>
          <p:nvPr/>
        </p:nvPicPr>
        <p:blipFill>
          <a:blip r:embed="rId3"/>
          <a:stretch>
            <a:fillRect/>
          </a:stretch>
        </p:blipFill>
        <p:spPr>
          <a:xfrm>
            <a:off x="4112138" y="3690384"/>
            <a:ext cx="888695" cy="8839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78423"/>
          </a:xfrm>
          <a:prstGeom prst="rect">
            <a:avLst/>
          </a:prstGeom>
          <a:noFill/>
        </p:spPr>
        <p:txBody>
          <a:bodyPr wrap="square" rtlCol="0">
            <a:spAutoFit/>
          </a:bodyPr>
          <a:lstStyle/>
          <a:p>
            <a:r>
              <a:rPr lang="en-US" b="1" dirty="0"/>
              <a:t>Problem Statement : </a:t>
            </a:r>
            <a:r>
              <a:rPr lang="en-US" b="1" dirty="0" err="1"/>
              <a:t>ResearchMind</a:t>
            </a:r>
            <a:r>
              <a:rPr lang="en-US" b="1" dirty="0"/>
              <a:t> AI – An Agentic AI Research Companion for Intelligent Literature Analysis and Research Discovery</a:t>
            </a:r>
            <a:endParaRPr lang="en-US" dirty="0"/>
          </a:p>
          <a:p>
            <a:pPr fontAlgn="base"/>
            <a:endParaRPr lang="en-US" b="1" dirty="0"/>
          </a:p>
          <a:p>
            <a:pPr fontAlgn="base"/>
            <a:r>
              <a:rPr lang="en-US" b="1" dirty="0"/>
              <a:t>The Challenge</a:t>
            </a:r>
            <a:r>
              <a:rPr lang="en-US" dirty="0"/>
              <a:t> </a:t>
            </a:r>
          </a:p>
          <a:p>
            <a:r>
              <a:rPr lang="en-US" dirty="0"/>
              <a:t>Modern researchers, students, and innovators spend countless hours searching through academic papers, understanding complex research topics, identifying knowledge gaps, and predicting emerging trends. Traditional search engines retrieve documents but do not actively reason, collaborate, or generate research insights. Researchers must manually read numerous papers, compare findings, summarize literature, discover unexplored areas, and forecast future directions, making the research process slow and inefficient.</a:t>
            </a:r>
          </a:p>
          <a:p>
            <a:r>
              <a:rPr lang="en-US" dirty="0" err="1"/>
              <a:t>ResearchMind</a:t>
            </a:r>
            <a:r>
              <a:rPr lang="en-US" dirty="0"/>
              <a:t> AI addresses this challenge by leveraging </a:t>
            </a:r>
            <a:r>
              <a:rPr lang="en-US" b="1" dirty="0"/>
              <a:t>IBM watsonx.ai Studio</a:t>
            </a:r>
            <a:r>
              <a:rPr lang="en-US" dirty="0"/>
              <a:t> and </a:t>
            </a:r>
            <a:r>
              <a:rPr lang="en-US" b="1" dirty="0"/>
              <a:t>IBM Granite Foundation Models</a:t>
            </a:r>
            <a:r>
              <a:rPr lang="en-US" dirty="0"/>
              <a:t> within an </a:t>
            </a:r>
            <a:r>
              <a:rPr lang="en-US" b="1" dirty="0"/>
              <a:t>Agentic AI architecture</a:t>
            </a:r>
            <a:r>
              <a:rPr lang="en-US" dirty="0"/>
              <a:t> where multiple intelligent agents collaborate to automate the research workflow.</a:t>
            </a:r>
          </a:p>
          <a:p>
            <a:pPr fontAlgn="base"/>
            <a:endParaRPr lang="en-US" dirty="0"/>
          </a:p>
          <a:p>
            <a:pPr fontAlgn="base"/>
            <a:r>
              <a:rPr lang="en-US" b="1" dirty="0"/>
              <a:t>The Objective</a:t>
            </a:r>
            <a:r>
              <a:rPr lang="en-US" dirty="0"/>
              <a:t> </a:t>
            </a:r>
          </a:p>
          <a:p>
            <a:pPr fontAlgn="base"/>
            <a:endParaRPr lang="en-US" dirty="0"/>
          </a:p>
          <a:p>
            <a:pPr>
              <a:buFont typeface="Arial" panose="020B0604020202020204" pitchFamily="34" charset="0"/>
              <a:buChar char="•"/>
            </a:pPr>
            <a:r>
              <a:rPr lang="en-US" dirty="0"/>
              <a:t>Demonstrate the use of </a:t>
            </a:r>
            <a:r>
              <a:rPr lang="en-US" b="1" dirty="0"/>
              <a:t>IBM watsonx.ai Studio</a:t>
            </a:r>
            <a:r>
              <a:rPr lang="en-US" dirty="0"/>
              <a:t>. </a:t>
            </a:r>
          </a:p>
          <a:p>
            <a:pPr>
              <a:buFont typeface="Arial" panose="020B0604020202020204" pitchFamily="34" charset="0"/>
              <a:buChar char="•"/>
            </a:pPr>
            <a:r>
              <a:rPr lang="en-US" dirty="0"/>
              <a:t>Utilize </a:t>
            </a:r>
            <a:r>
              <a:rPr lang="en-US" b="1" dirty="0"/>
              <a:t>IBM Granite Foundation Models</a:t>
            </a:r>
            <a:r>
              <a:rPr lang="en-US" dirty="0"/>
              <a:t> for reasoning and content generation. </a:t>
            </a:r>
          </a:p>
          <a:p>
            <a:pPr>
              <a:buFont typeface="Arial" panose="020B0604020202020204" pitchFamily="34" charset="0"/>
              <a:buChar char="•"/>
            </a:pPr>
            <a:r>
              <a:rPr lang="en-US" dirty="0"/>
              <a:t>Showcase an </a:t>
            </a:r>
            <a:r>
              <a:rPr lang="en-US" b="1" dirty="0"/>
              <a:t>Agentic AI</a:t>
            </a:r>
            <a:r>
              <a:rPr lang="en-US" dirty="0"/>
              <a:t> architecture with autonomous task planning. </a:t>
            </a:r>
          </a:p>
          <a:p>
            <a:pPr>
              <a:buFont typeface="Arial" panose="020B0604020202020204" pitchFamily="34" charset="0"/>
              <a:buChar char="•"/>
            </a:pPr>
            <a:r>
              <a:rPr lang="en-US" dirty="0"/>
              <a:t>Implement </a:t>
            </a:r>
            <a:r>
              <a:rPr lang="en-US" b="1" dirty="0"/>
              <a:t>multi-agent collaboration</a:t>
            </a:r>
            <a:r>
              <a:rPr lang="en-US" dirty="0"/>
              <a:t> for specialized research tasks. </a:t>
            </a:r>
          </a:p>
          <a:p>
            <a:pPr>
              <a:buFont typeface="Arial" panose="020B0604020202020204" pitchFamily="34" charset="0"/>
              <a:buChar char="•"/>
            </a:pPr>
            <a:r>
              <a:rPr lang="en-US" dirty="0"/>
              <a:t>Build a lightweight </a:t>
            </a:r>
            <a:r>
              <a:rPr lang="en-US" b="1" dirty="0"/>
              <a:t>Retrieval-Augmented Generation (RAG)</a:t>
            </a:r>
            <a:r>
              <a:rPr lang="en-US" dirty="0"/>
              <a:t> system without a database. </a:t>
            </a:r>
          </a:p>
          <a:p>
            <a:pPr>
              <a:buFont typeface="Arial" panose="020B0604020202020204" pitchFamily="34" charset="0"/>
              <a:buChar char="•"/>
            </a:pPr>
            <a:r>
              <a:rPr lang="en-US" dirty="0"/>
              <a:t>Automatically generate: </a:t>
            </a:r>
          </a:p>
          <a:p>
            <a:pPr marL="285750">
              <a:buFont typeface="Arial" panose="020B0604020202020204" pitchFamily="34" charset="0"/>
              <a:buChar char="•"/>
            </a:pPr>
            <a:r>
              <a:rPr lang="en-US" dirty="0"/>
              <a:t>Literature reviews </a:t>
            </a:r>
          </a:p>
          <a:p>
            <a:pPr marL="285750" lvl="2">
              <a:buFont typeface="Arial" panose="020B0604020202020204" pitchFamily="34" charset="0"/>
              <a:buChar char="•"/>
            </a:pPr>
            <a:r>
              <a:rPr lang="en-US" dirty="0"/>
              <a:t>Research summaries </a:t>
            </a:r>
          </a:p>
          <a:p>
            <a:pPr marL="285750">
              <a:buFont typeface="Arial" panose="020B0604020202020204" pitchFamily="34" charset="0"/>
              <a:buChar char="•"/>
            </a:pPr>
            <a:r>
              <a:rPr lang="en-US" dirty="0"/>
              <a:t>Research gap analysis </a:t>
            </a:r>
          </a:p>
          <a:p>
            <a:pPr marL="285750">
              <a:buFont typeface="Arial" panose="020B0604020202020204" pitchFamily="34" charset="0"/>
              <a:buChar char="•"/>
            </a:pPr>
            <a:r>
              <a:rPr lang="en-US" dirty="0"/>
              <a:t>Emerging trend forecasts </a:t>
            </a:r>
          </a:p>
          <a:p>
            <a:pPr marL="114300" indent="-114300">
              <a:buFont typeface="Arial" panose="020B0604020202020204" pitchFamily="34" charset="0"/>
              <a:buChar char="•"/>
            </a:pPr>
            <a:r>
              <a:rPr lang="en-US" dirty="0"/>
              <a:t>Deliver the complete solution as a </a:t>
            </a:r>
            <a:r>
              <a:rPr lang="en-US" b="1" dirty="0"/>
              <a:t>single </a:t>
            </a:r>
            <a:r>
              <a:rPr lang="en-US" dirty="0"/>
              <a:t>app.py </a:t>
            </a:r>
            <a:r>
              <a:rPr lang="en-US" b="1" dirty="0"/>
              <a:t>Flask application</a:t>
            </a:r>
            <a:r>
              <a:rPr lang="en-US" dirty="0"/>
              <a:t> without external databases or paid APIs.</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pPr fontAlgn="base"/>
            <a:endParaRPr lang="en-US" b="1" dirty="0"/>
          </a:p>
          <a:p>
            <a:r>
              <a:rPr lang="en-US" b="1" dirty="0"/>
              <a:t>Proposed Solution : </a:t>
            </a:r>
            <a:r>
              <a:rPr lang="en-US" b="1" dirty="0" err="1"/>
              <a:t>ResearchMind</a:t>
            </a:r>
            <a:r>
              <a:rPr lang="en-US" b="1" dirty="0"/>
              <a:t> AI – Intelligent Research Companion</a:t>
            </a:r>
          </a:p>
          <a:p>
            <a:endParaRPr lang="en-US" b="1" dirty="0"/>
          </a:p>
          <a:p>
            <a:r>
              <a:rPr lang="en-US" b="1" dirty="0"/>
              <a:t>Overview</a:t>
            </a:r>
          </a:p>
          <a:p>
            <a:endParaRPr lang="en-US" b="1" dirty="0"/>
          </a:p>
          <a:p>
            <a:r>
              <a:rPr lang="en-US" dirty="0" err="1"/>
              <a:t>ResearchMind</a:t>
            </a:r>
            <a:r>
              <a:rPr lang="en-US" dirty="0"/>
              <a:t> AI is an </a:t>
            </a:r>
            <a:r>
              <a:rPr lang="en-US" b="1" dirty="0"/>
              <a:t>Agentic AI-powered research assistant</a:t>
            </a:r>
            <a:r>
              <a:rPr lang="en-US" dirty="0"/>
              <a:t> designed to simplify and accelerate the research process using </a:t>
            </a:r>
            <a:r>
              <a:rPr lang="en-US" b="1" dirty="0"/>
              <a:t>IBM watsonx.ai Studio</a:t>
            </a:r>
            <a:r>
              <a:rPr lang="en-US" dirty="0"/>
              <a:t>, </a:t>
            </a:r>
            <a:r>
              <a:rPr lang="en-US" b="1" dirty="0"/>
              <a:t>IBM Granite Foundation Models</a:t>
            </a:r>
            <a:r>
              <a:rPr lang="en-US" dirty="0"/>
              <a:t>, and a lightweight </a:t>
            </a:r>
            <a:r>
              <a:rPr lang="en-US" b="1" dirty="0"/>
              <a:t>Retrieval-Augmented Generation (RAG)</a:t>
            </a:r>
            <a:r>
              <a:rPr lang="en-US" dirty="0"/>
              <a:t> system. Rather than functioning as a conventional chatbot, the application employs a team of specialized AI agents that collaborate autonomously to retrieve knowledge, analyze research content, generate literature reviews, identify research gaps, and forecast emerging trends.</a:t>
            </a:r>
          </a:p>
          <a:p>
            <a:endParaRPr lang="en-US" dirty="0"/>
          </a:p>
          <a:p>
            <a:r>
              <a:rPr lang="en-US" dirty="0"/>
              <a:t>The solution is implemented as a </a:t>
            </a:r>
            <a:r>
              <a:rPr lang="en-US" b="1" dirty="0"/>
              <a:t>single-file Flask application (app.py)</a:t>
            </a:r>
            <a:r>
              <a:rPr lang="en-US" dirty="0"/>
              <a:t> in Python without using databases or paid APIs, making it lightweight, portable, and easy to deploy.</a:t>
            </a:r>
          </a:p>
          <a:p>
            <a:pPr fontAlgn="base"/>
            <a:endParaRPr lang="en-US" dirty="0"/>
          </a:p>
          <a:p>
            <a:r>
              <a:rPr lang="en-US" b="1" dirty="0"/>
              <a:t>How the Solution Works</a:t>
            </a:r>
          </a:p>
          <a:p>
            <a:endParaRPr lang="en-US" b="1" dirty="0"/>
          </a:p>
          <a:p>
            <a:r>
              <a:rPr lang="en-US" dirty="0"/>
              <a:t>Step 1 – User Input</a:t>
            </a:r>
          </a:p>
          <a:p>
            <a:r>
              <a:rPr lang="en-US" dirty="0"/>
              <a:t>Step 2 – Agent Planning</a:t>
            </a:r>
          </a:p>
          <a:p>
            <a:r>
              <a:rPr lang="en-US" dirty="0"/>
              <a:t>Step 3 – Knowledge Retrieval (Lightweight RAG)</a:t>
            </a:r>
          </a:p>
          <a:p>
            <a:r>
              <a:rPr lang="en-US" dirty="0"/>
              <a:t>Step 4 – Multi-Agent Collaboration</a:t>
            </a:r>
          </a:p>
          <a:p>
            <a:r>
              <a:rPr lang="en-US" dirty="0"/>
              <a:t>Step 5 – IBM Granite Reasoning</a:t>
            </a:r>
          </a:p>
          <a:p>
            <a:r>
              <a:rPr lang="en-US" dirty="0"/>
              <a:t>Step 6 – Report Generation</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1077218"/>
          </a:xfrm>
          <a:prstGeom prst="rect">
            <a:avLst/>
          </a:prstGeom>
          <a:noFill/>
        </p:spPr>
        <p:txBody>
          <a:bodyPr wrap="square" rtlCol="0">
            <a:spAutoFit/>
          </a:bodyPr>
          <a:lstStyle/>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graphicFrame>
        <p:nvGraphicFramePr>
          <p:cNvPr id="5" name="Table 4">
            <a:extLst>
              <a:ext uri="{FF2B5EF4-FFF2-40B4-BE49-F238E27FC236}">
                <a16:creationId xmlns:a16="http://schemas.microsoft.com/office/drawing/2014/main" id="{5006263E-FE03-150F-6FD6-703038049556}"/>
              </a:ext>
            </a:extLst>
          </p:cNvPr>
          <p:cNvGraphicFramePr>
            <a:graphicFrameLocks noGrp="1"/>
          </p:cNvGraphicFramePr>
          <p:nvPr>
            <p:extLst>
              <p:ext uri="{D42A27DB-BD31-4B8C-83A1-F6EECF244321}">
                <p14:modId xmlns:p14="http://schemas.microsoft.com/office/powerpoint/2010/main" val="1446523882"/>
              </p:ext>
            </p:extLst>
          </p:nvPr>
        </p:nvGraphicFramePr>
        <p:xfrm>
          <a:off x="777240" y="1303020"/>
          <a:ext cx="10515600" cy="4811019"/>
        </p:xfrm>
        <a:graphic>
          <a:graphicData uri="http://schemas.openxmlformats.org/drawingml/2006/table">
            <a:tbl>
              <a:tblPr/>
              <a:tblGrid>
                <a:gridCol w="5257800">
                  <a:extLst>
                    <a:ext uri="{9D8B030D-6E8A-4147-A177-3AD203B41FA5}">
                      <a16:colId xmlns:a16="http://schemas.microsoft.com/office/drawing/2014/main" val="1639337894"/>
                    </a:ext>
                  </a:extLst>
                </a:gridCol>
                <a:gridCol w="5257800">
                  <a:extLst>
                    <a:ext uri="{9D8B030D-6E8A-4147-A177-3AD203B41FA5}">
                      <a16:colId xmlns:a16="http://schemas.microsoft.com/office/drawing/2014/main" val="1384443695"/>
                    </a:ext>
                  </a:extLst>
                </a:gridCol>
              </a:tblGrid>
              <a:tr h="773817">
                <a:tc>
                  <a:txBody>
                    <a:bodyPr/>
                    <a:lstStyle/>
                    <a:p>
                      <a:pPr marL="171450" indent="-171450">
                        <a:buFont typeface="Arial" panose="020B0604020202020204" pitchFamily="34" charset="0"/>
                        <a:buChar char="•"/>
                      </a:pPr>
                      <a:r>
                        <a:rPr lang="en-US" sz="1000" b="1" dirty="0"/>
                        <a:t>IBM </a:t>
                      </a:r>
                      <a:r>
                        <a:rPr lang="en-US" sz="1000" b="1" dirty="0" err="1"/>
                        <a:t>watsonx</a:t>
                      </a:r>
                      <a:r>
                        <a:rPr lang="en-US" sz="1000" b="1" dirty="0"/>
                        <a:t> Orchestrate (IBM </a:t>
                      </a:r>
                      <a:r>
                        <a:rPr lang="en-US" sz="1000" b="1" dirty="0" err="1"/>
                        <a:t>watsonx</a:t>
                      </a:r>
                      <a:r>
                        <a:rPr lang="en-US" sz="1000" b="1" dirty="0"/>
                        <a:t> Orchestrate / IBM BOB Platform)</a:t>
                      </a:r>
                      <a:endParaRPr lang="en-US" sz="1000" dirty="0"/>
                    </a:p>
                  </a:txBody>
                  <a:tcPr marL="55786" marR="55786" marT="27893" marB="27893" anchor="ctr">
                    <a:lnL>
                      <a:noFill/>
                    </a:lnL>
                    <a:lnR>
                      <a:noFill/>
                    </a:lnR>
                    <a:lnT>
                      <a:noFill/>
                    </a:lnT>
                    <a:lnB>
                      <a:noFill/>
                    </a:lnB>
                    <a:noFill/>
                  </a:tcPr>
                </a:tc>
                <a:tc>
                  <a:txBody>
                    <a:bodyPr/>
                    <a:lstStyle/>
                    <a:p>
                      <a:pPr marL="0" indent="0">
                        <a:buNone/>
                      </a:pPr>
                      <a:r>
                        <a:rPr lang="en-US" sz="900" dirty="0"/>
                        <a:t>Used to visually design and orchestrate the </a:t>
                      </a:r>
                      <a:r>
                        <a:rPr lang="en-US" sz="900" b="1" dirty="0"/>
                        <a:t>multi-agent workflow</a:t>
                      </a:r>
                      <a:r>
                        <a:rPr lang="en-US" sz="900" dirty="0"/>
                        <a:t>. It coordinates specialized agents (Retrieval Agent, Literature Review Agent, Research Gap Agent, Trend Forecasting Agent, and Report Generation Agent) to automate the end-to-end research process.</a:t>
                      </a:r>
                    </a:p>
                  </a:txBody>
                  <a:tcPr marL="55786" marR="55786" marT="27893" marB="27893" anchor="ctr">
                    <a:lnL>
                      <a:noFill/>
                    </a:lnL>
                    <a:lnR>
                      <a:noFill/>
                    </a:lnR>
                    <a:lnT>
                      <a:noFill/>
                    </a:lnT>
                    <a:lnB>
                      <a:noFill/>
                    </a:lnB>
                    <a:noFill/>
                  </a:tcPr>
                </a:tc>
                <a:extLst>
                  <a:ext uri="{0D108BD9-81ED-4DB2-BD59-A6C34878D82A}">
                    <a16:rowId xmlns:a16="http://schemas.microsoft.com/office/drawing/2014/main" val="2940079478"/>
                  </a:ext>
                </a:extLst>
              </a:tr>
              <a:tr h="661897">
                <a:tc>
                  <a:txBody>
                    <a:bodyPr/>
                    <a:lstStyle/>
                    <a:p>
                      <a:pPr marL="171450" indent="-171450">
                        <a:buFont typeface="Arial" panose="020B0604020202020204" pitchFamily="34" charset="0"/>
                        <a:buChar char="•"/>
                      </a:pPr>
                      <a:r>
                        <a:rPr lang="en-US" sz="1000" b="1" dirty="0"/>
                        <a:t>IBM </a:t>
                      </a:r>
                      <a:r>
                        <a:rPr lang="en-US" sz="1000" b="1" i="0" u="none" strike="noStrike" cap="none" dirty="0">
                          <a:solidFill>
                            <a:schemeClr val="tx1"/>
                          </a:solidFill>
                          <a:latin typeface="+mn-lt"/>
                          <a:ea typeface="+mn-ea"/>
                          <a:cs typeface="+mn-cs"/>
                          <a:sym typeface="Arial"/>
                        </a:rPr>
                        <a:t>Granite Model (e.</a:t>
                      </a:r>
                      <a:r>
                        <a:rPr lang="en-US" sz="1000" b="1" dirty="0"/>
                        <a:t>g., </a:t>
                      </a:r>
                      <a:r>
                        <a:rPr lang="en-US" sz="1000" b="1" dirty="0">
                          <a:latin typeface="Courier New" panose="02070309020205020404" pitchFamily="49" charset="0"/>
                        </a:rPr>
                        <a:t>ibm-granite-3-2-8b-instruct</a:t>
                      </a:r>
                      <a:r>
                        <a:rPr lang="en-US" sz="1000" b="1" dirty="0"/>
                        <a:t>)</a:t>
                      </a:r>
                      <a:endParaRPr lang="en-US" sz="1000" dirty="0"/>
                    </a:p>
                  </a:txBody>
                  <a:tcPr marL="55786" marR="55786" marT="27893" marB="27893" anchor="ctr">
                    <a:lnL>
                      <a:noFill/>
                    </a:lnL>
                    <a:lnR>
                      <a:noFill/>
                    </a:lnR>
                    <a:lnT>
                      <a:noFill/>
                    </a:lnT>
                    <a:lnB>
                      <a:noFill/>
                    </a:lnB>
                    <a:noFill/>
                  </a:tcPr>
                </a:tc>
                <a:tc>
                  <a:txBody>
                    <a:bodyPr/>
                    <a:lstStyle/>
                    <a:p>
                      <a:pPr>
                        <a:buNone/>
                      </a:pPr>
                      <a:r>
                        <a:rPr lang="en-US" sz="900" dirty="0"/>
                        <a:t>Serves as the core Large Language Model (LLM) for </a:t>
                      </a:r>
                      <a:r>
                        <a:rPr lang="en-US" sz="900" b="1" dirty="0"/>
                        <a:t>natural language understanding, reasoning, summarization, literature review generation, research gap identification, trend forecasting, and personalized research assistance</a:t>
                      </a:r>
                      <a:r>
                        <a:rPr lang="en-US" sz="900" dirty="0"/>
                        <a:t>.</a:t>
                      </a:r>
                    </a:p>
                  </a:txBody>
                  <a:tcPr marL="55786" marR="55786" marT="27893" marB="27893" anchor="ctr">
                    <a:lnL>
                      <a:noFill/>
                    </a:lnL>
                    <a:lnR>
                      <a:noFill/>
                    </a:lnR>
                    <a:lnT>
                      <a:noFill/>
                    </a:lnT>
                    <a:lnB>
                      <a:noFill/>
                    </a:lnB>
                    <a:noFill/>
                  </a:tcPr>
                </a:tc>
                <a:extLst>
                  <a:ext uri="{0D108BD9-81ED-4DB2-BD59-A6C34878D82A}">
                    <a16:rowId xmlns:a16="http://schemas.microsoft.com/office/drawing/2014/main" val="1441751454"/>
                  </a:ext>
                </a:extLst>
              </a:tr>
              <a:tr h="488726">
                <a:tc>
                  <a:txBody>
                    <a:bodyPr/>
                    <a:lstStyle/>
                    <a:p>
                      <a:pPr marL="171450" indent="-171450">
                        <a:buFont typeface="Arial" panose="020B0604020202020204" pitchFamily="34" charset="0"/>
                        <a:buChar char="•"/>
                      </a:pPr>
                      <a:r>
                        <a:rPr lang="en-US" sz="1000" b="1" dirty="0"/>
                        <a:t>IBM Cloud</a:t>
                      </a:r>
                      <a:endParaRPr lang="en-US" sz="1000" dirty="0"/>
                    </a:p>
                  </a:txBody>
                  <a:tcPr marL="55786" marR="55786" marT="27893" marB="27893" anchor="ctr">
                    <a:lnL>
                      <a:noFill/>
                    </a:lnL>
                    <a:lnR>
                      <a:noFill/>
                    </a:lnR>
                    <a:lnT>
                      <a:noFill/>
                    </a:lnT>
                    <a:lnB>
                      <a:noFill/>
                    </a:lnB>
                    <a:noFill/>
                  </a:tcPr>
                </a:tc>
                <a:tc>
                  <a:txBody>
                    <a:bodyPr/>
                    <a:lstStyle/>
                    <a:p>
                      <a:pPr>
                        <a:buNone/>
                      </a:pPr>
                      <a:r>
                        <a:rPr lang="en-US" sz="900"/>
                        <a:t>Provides the </a:t>
                      </a:r>
                      <a:r>
                        <a:rPr lang="en-US" sz="900" b="1"/>
                        <a:t>secure, scalable, and reliable cloud infrastructure</a:t>
                      </a:r>
                      <a:r>
                        <a:rPr lang="en-US" sz="900"/>
                        <a:t> to develop, deploy, host, and scale the ResearchMind AI application and its AI services.</a:t>
                      </a:r>
                    </a:p>
                  </a:txBody>
                  <a:tcPr marL="55786" marR="55786" marT="27893" marB="27893" anchor="ctr">
                    <a:lnL>
                      <a:noFill/>
                    </a:lnL>
                    <a:lnR>
                      <a:noFill/>
                    </a:lnR>
                    <a:lnT>
                      <a:noFill/>
                    </a:lnT>
                    <a:lnB>
                      <a:noFill/>
                    </a:lnB>
                    <a:noFill/>
                  </a:tcPr>
                </a:tc>
                <a:extLst>
                  <a:ext uri="{0D108BD9-81ED-4DB2-BD59-A6C34878D82A}">
                    <a16:rowId xmlns:a16="http://schemas.microsoft.com/office/drawing/2014/main" val="2333616853"/>
                  </a:ext>
                </a:extLst>
              </a:tr>
              <a:tr h="631271">
                <a:tc>
                  <a:txBody>
                    <a:bodyPr/>
                    <a:lstStyle/>
                    <a:p>
                      <a:pPr marL="171450" indent="-171450">
                        <a:buFont typeface="Arial" panose="020B0604020202020204" pitchFamily="34" charset="0"/>
                        <a:buChar char="•"/>
                      </a:pPr>
                      <a:r>
                        <a:rPr lang="en-US" sz="1000" b="1" dirty="0"/>
                        <a:t>Retrieval-Augmented Generation (RAG)</a:t>
                      </a:r>
                      <a:endParaRPr lang="en-US" sz="1000" dirty="0"/>
                    </a:p>
                  </a:txBody>
                  <a:tcPr marL="55786" marR="55786" marT="27893" marB="27893" anchor="ctr">
                    <a:lnL>
                      <a:noFill/>
                    </a:lnL>
                    <a:lnR>
                      <a:noFill/>
                    </a:lnR>
                    <a:lnT>
                      <a:noFill/>
                    </a:lnT>
                    <a:lnB>
                      <a:noFill/>
                    </a:lnB>
                    <a:noFill/>
                  </a:tcPr>
                </a:tc>
                <a:tc>
                  <a:txBody>
                    <a:bodyPr/>
                    <a:lstStyle/>
                    <a:p>
                      <a:pPr marL="0" indent="0">
                        <a:buNone/>
                      </a:pPr>
                      <a:r>
                        <a:rPr lang="en-US" sz="900" dirty="0"/>
                        <a:t>Retrieves relevant research documents, papers, abstracts, and knowledge before invoking the Granite model. This grounds AI responses in factual context, improving the accuracy and trustworthiness of generated research insights.</a:t>
                      </a:r>
                    </a:p>
                  </a:txBody>
                  <a:tcPr marL="55786" marR="55786" marT="27893" marB="27893" anchor="ctr">
                    <a:lnL>
                      <a:noFill/>
                    </a:lnL>
                    <a:lnR>
                      <a:noFill/>
                    </a:lnR>
                    <a:lnT>
                      <a:noFill/>
                    </a:lnT>
                    <a:lnB>
                      <a:noFill/>
                    </a:lnB>
                    <a:noFill/>
                  </a:tcPr>
                </a:tc>
                <a:extLst>
                  <a:ext uri="{0D108BD9-81ED-4DB2-BD59-A6C34878D82A}">
                    <a16:rowId xmlns:a16="http://schemas.microsoft.com/office/drawing/2014/main" val="549405190"/>
                  </a:ext>
                </a:extLst>
              </a:tr>
              <a:tr h="631271">
                <a:tc>
                  <a:txBody>
                    <a:bodyPr/>
                    <a:lstStyle/>
                    <a:p>
                      <a:pPr marL="171450" indent="-171450">
                        <a:buFont typeface="Arial" panose="020B0604020202020204" pitchFamily="34" charset="0"/>
                        <a:buChar char="•"/>
                      </a:pPr>
                      <a:r>
                        <a:rPr lang="en-US" sz="1000" b="1" dirty="0"/>
                        <a:t>IBM watsonx.ai Studio</a:t>
                      </a:r>
                      <a:endParaRPr lang="en-US" sz="1000" dirty="0"/>
                    </a:p>
                  </a:txBody>
                  <a:tcPr marL="55786" marR="55786" marT="27893" marB="27893" anchor="ctr">
                    <a:lnL>
                      <a:noFill/>
                    </a:lnL>
                    <a:lnR>
                      <a:noFill/>
                    </a:lnR>
                    <a:lnT>
                      <a:noFill/>
                    </a:lnT>
                    <a:lnB>
                      <a:noFill/>
                    </a:lnB>
                    <a:noFill/>
                  </a:tcPr>
                </a:tc>
                <a:tc>
                  <a:txBody>
                    <a:bodyPr/>
                    <a:lstStyle/>
                    <a:p>
                      <a:pPr>
                        <a:buNone/>
                      </a:pPr>
                      <a:r>
                        <a:rPr lang="en-US" sz="900" dirty="0"/>
                        <a:t>Used for </a:t>
                      </a:r>
                      <a:r>
                        <a:rPr lang="en-US" sz="900" b="1" dirty="0"/>
                        <a:t>prompt engineering, Granite model deployment, inference APIs, embeddings, model management, and AI governance</a:t>
                      </a:r>
                      <a:r>
                        <a:rPr lang="en-US" sz="900" dirty="0"/>
                        <a:t>, enabling responsible and production-ready AI workflows.</a:t>
                      </a:r>
                    </a:p>
                  </a:txBody>
                  <a:tcPr marL="55786" marR="55786" marT="27893" marB="27893" anchor="ctr">
                    <a:lnL>
                      <a:noFill/>
                    </a:lnL>
                    <a:lnR>
                      <a:noFill/>
                    </a:lnR>
                    <a:lnT>
                      <a:noFill/>
                    </a:lnT>
                    <a:lnB>
                      <a:noFill/>
                    </a:lnB>
                    <a:noFill/>
                  </a:tcPr>
                </a:tc>
                <a:extLst>
                  <a:ext uri="{0D108BD9-81ED-4DB2-BD59-A6C34878D82A}">
                    <a16:rowId xmlns:a16="http://schemas.microsoft.com/office/drawing/2014/main" val="2532620570"/>
                  </a:ext>
                </a:extLst>
              </a:tr>
              <a:tr h="773817">
                <a:tc>
                  <a:txBody>
                    <a:bodyPr/>
                    <a:lstStyle/>
                    <a:p>
                      <a:pPr marL="171450" indent="-171450">
                        <a:buFont typeface="Arial" panose="020B0604020202020204" pitchFamily="34" charset="0"/>
                        <a:buChar char="•"/>
                      </a:pPr>
                      <a:r>
                        <a:rPr lang="en-US" sz="1000" b="1" dirty="0"/>
                        <a:t>Vector Database (FAISS or </a:t>
                      </a:r>
                      <a:r>
                        <a:rPr lang="en-US" sz="1000" b="1" dirty="0" err="1"/>
                        <a:t>ChromaDB</a:t>
                      </a:r>
                      <a:r>
                        <a:rPr lang="en-US" sz="1000" b="1" dirty="0"/>
                        <a:t>)</a:t>
                      </a:r>
                      <a:endParaRPr lang="en-US" sz="1000" dirty="0"/>
                    </a:p>
                  </a:txBody>
                  <a:tcPr marL="55786" marR="55786" marT="27893" marB="27893" anchor="ctr">
                    <a:lnL>
                      <a:noFill/>
                    </a:lnL>
                    <a:lnR>
                      <a:noFill/>
                    </a:lnR>
                    <a:lnT>
                      <a:noFill/>
                    </a:lnT>
                    <a:lnB>
                      <a:noFill/>
                    </a:lnB>
                    <a:noFill/>
                  </a:tcPr>
                </a:tc>
                <a:tc>
                  <a:txBody>
                    <a:bodyPr/>
                    <a:lstStyle/>
                    <a:p>
                      <a:pPr>
                        <a:buNone/>
                      </a:pPr>
                      <a:r>
                        <a:rPr lang="en-US" sz="900"/>
                        <a:t>Stores vector embeddings of research papers, abstracts, and documents to enable </a:t>
                      </a:r>
                      <a:r>
                        <a:rPr lang="en-US" sz="900" b="1"/>
                        <a:t>semantic search</a:t>
                      </a:r>
                      <a:r>
                        <a:rPr lang="en-US" sz="900"/>
                        <a:t> and efficient retrieval for the RAG pipeline. It allows the system to find the most relevant research context based on meaning rather than exact keyword matches.</a:t>
                      </a:r>
                    </a:p>
                  </a:txBody>
                  <a:tcPr marL="55786" marR="55786" marT="27893" marB="27893" anchor="ctr">
                    <a:lnL>
                      <a:noFill/>
                    </a:lnL>
                    <a:lnR>
                      <a:noFill/>
                    </a:lnR>
                    <a:lnT>
                      <a:noFill/>
                    </a:lnT>
                    <a:lnB>
                      <a:noFill/>
                    </a:lnB>
                    <a:noFill/>
                  </a:tcPr>
                </a:tc>
                <a:extLst>
                  <a:ext uri="{0D108BD9-81ED-4DB2-BD59-A6C34878D82A}">
                    <a16:rowId xmlns:a16="http://schemas.microsoft.com/office/drawing/2014/main" val="2993786360"/>
                  </a:ext>
                </a:extLst>
              </a:tr>
              <a:tr h="361494">
                <a:tc>
                  <a:txBody>
                    <a:bodyPr/>
                    <a:lstStyle/>
                    <a:p>
                      <a:pPr marL="171450" indent="-171450">
                        <a:buFont typeface="Arial" panose="020B0604020202020204" pitchFamily="34" charset="0"/>
                        <a:buChar char="•"/>
                      </a:pPr>
                      <a:r>
                        <a:rPr lang="en-US" sz="1000" b="1" dirty="0"/>
                        <a:t>Python</a:t>
                      </a:r>
                      <a:endParaRPr lang="en-US" sz="1000" dirty="0"/>
                    </a:p>
                  </a:txBody>
                  <a:tcPr marL="55786" marR="55786" marT="27893" marB="27893" anchor="ctr">
                    <a:lnL>
                      <a:noFill/>
                    </a:lnL>
                    <a:lnR>
                      <a:noFill/>
                    </a:lnR>
                    <a:lnT>
                      <a:noFill/>
                    </a:lnT>
                    <a:lnB>
                      <a:noFill/>
                    </a:lnB>
                    <a:noFill/>
                  </a:tcPr>
                </a:tc>
                <a:tc>
                  <a:txBody>
                    <a:bodyPr/>
                    <a:lstStyle/>
                    <a:p>
                      <a:pPr>
                        <a:buNone/>
                      </a:pPr>
                      <a:r>
                        <a:rPr lang="en-US" sz="900"/>
                        <a:t>Primary programming language used to implement the multi-agent architecture, RAG pipeline, and backend logic.</a:t>
                      </a:r>
                    </a:p>
                  </a:txBody>
                  <a:tcPr marL="55786" marR="55786" marT="27893" marB="27893" anchor="ctr">
                    <a:lnL>
                      <a:noFill/>
                    </a:lnL>
                    <a:lnR>
                      <a:noFill/>
                    </a:lnR>
                    <a:lnT>
                      <a:noFill/>
                    </a:lnT>
                    <a:lnB>
                      <a:noFill/>
                    </a:lnB>
                    <a:noFill/>
                  </a:tcPr>
                </a:tc>
                <a:extLst>
                  <a:ext uri="{0D108BD9-81ED-4DB2-BD59-A6C34878D82A}">
                    <a16:rowId xmlns:a16="http://schemas.microsoft.com/office/drawing/2014/main" val="869531536"/>
                  </a:ext>
                </a:extLst>
              </a:tr>
              <a:tr h="488726">
                <a:tc>
                  <a:txBody>
                    <a:bodyPr/>
                    <a:lstStyle/>
                    <a:p>
                      <a:pPr marL="171450" indent="-171450">
                        <a:buFont typeface="Arial" panose="020B0604020202020204" pitchFamily="34" charset="0"/>
                        <a:buChar char="•"/>
                      </a:pPr>
                      <a:r>
                        <a:rPr lang="en-US" sz="1000" b="1" dirty="0"/>
                        <a:t>Flask</a:t>
                      </a:r>
                      <a:endParaRPr lang="en-US" sz="1000" dirty="0"/>
                    </a:p>
                  </a:txBody>
                  <a:tcPr marL="55786" marR="55786" marT="27893" marB="27893" anchor="ctr">
                    <a:lnL>
                      <a:noFill/>
                    </a:lnL>
                    <a:lnR>
                      <a:noFill/>
                    </a:lnR>
                    <a:lnT>
                      <a:noFill/>
                    </a:lnT>
                    <a:lnB>
                      <a:noFill/>
                    </a:lnB>
                    <a:noFill/>
                  </a:tcPr>
                </a:tc>
                <a:tc>
                  <a:txBody>
                    <a:bodyPr/>
                    <a:lstStyle/>
                    <a:p>
                      <a:pPr>
                        <a:buNone/>
                      </a:pPr>
                      <a:r>
                        <a:rPr lang="en-US" sz="900" dirty="0"/>
                        <a:t>Lightweight web framework used to build the web interface, REST APIs, and integrate the frontend with IBM watsonx.ai services.</a:t>
                      </a:r>
                    </a:p>
                  </a:txBody>
                  <a:tcPr marL="55786" marR="55786" marT="27893" marB="27893" anchor="ctr">
                    <a:lnL>
                      <a:noFill/>
                    </a:lnL>
                    <a:lnR>
                      <a:noFill/>
                    </a:lnR>
                    <a:lnT>
                      <a:noFill/>
                    </a:lnT>
                    <a:lnB>
                      <a:noFill/>
                    </a:lnB>
                    <a:noFill/>
                  </a:tcPr>
                </a:tc>
                <a:extLst>
                  <a:ext uri="{0D108BD9-81ED-4DB2-BD59-A6C34878D82A}">
                    <a16:rowId xmlns:a16="http://schemas.microsoft.com/office/drawing/2014/main" val="3537320148"/>
                  </a:ext>
                </a:extLst>
              </a:tr>
            </a:tbl>
          </a:graphicData>
        </a:graphic>
      </p:graphicFrame>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3908762"/>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endParaRPr lang="en-US" sz="1800" dirty="0"/>
          </a:p>
          <a:p>
            <a:pPr marL="342900" indent="-342900">
              <a:buFont typeface="+mj-lt"/>
              <a:buAutoNum type="arabicPeriod"/>
            </a:pPr>
            <a:r>
              <a:rPr lang="en-US" sz="1800" dirty="0"/>
              <a:t>_</a:t>
            </a:r>
            <a:r>
              <a:rPr lang="en-US" sz="1800" dirty="0" err="1"/>
              <a:t>pycache</a:t>
            </a:r>
            <a:r>
              <a:rPr lang="en-US" sz="1800" dirty="0"/>
              <a:t>_ </a:t>
            </a:r>
          </a:p>
          <a:p>
            <a:pPr marL="342900" indent="-342900">
              <a:buFont typeface="+mj-lt"/>
              <a:buAutoNum type="arabicPeriod"/>
            </a:pPr>
            <a:r>
              <a:rPr lang="en-US" sz="1800" dirty="0"/>
              <a:t>.env</a:t>
            </a:r>
          </a:p>
          <a:p>
            <a:pPr marL="342900" indent="-342900">
              <a:buFont typeface="+mj-lt"/>
              <a:buAutoNum type="arabicPeriod"/>
            </a:pPr>
            <a:r>
              <a:rPr lang="en-US" sz="1800" dirty="0"/>
              <a:t>.</a:t>
            </a:r>
            <a:r>
              <a:rPr lang="en-US" sz="1800" dirty="0" err="1"/>
              <a:t>env.example</a:t>
            </a:r>
            <a:endParaRPr lang="en-US" sz="1800" dirty="0"/>
          </a:p>
          <a:p>
            <a:pPr marL="342900" indent="-342900">
              <a:buFont typeface="+mj-lt"/>
              <a:buAutoNum type="arabicPeriod"/>
            </a:pPr>
            <a:r>
              <a:rPr lang="en-US" sz="1800" dirty="0"/>
              <a:t>.</a:t>
            </a:r>
            <a:r>
              <a:rPr lang="en-US" sz="1800" dirty="0" err="1"/>
              <a:t>gitignore</a:t>
            </a:r>
            <a:endParaRPr lang="en-US" sz="1800" dirty="0"/>
          </a:p>
          <a:p>
            <a:pPr marL="342900" indent="-342900">
              <a:buFont typeface="+mj-lt"/>
              <a:buAutoNum type="arabicPeriod"/>
            </a:pPr>
            <a:r>
              <a:rPr lang="en-US" sz="1800" dirty="0"/>
              <a:t>App.py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35876147-1AF3-1687-B130-A61FA0DA9B3E}"/>
              </a:ext>
            </a:extLst>
          </p:cNvPr>
          <p:cNvPicPr>
            <a:picLocks noChangeAspect="1"/>
          </p:cNvPicPr>
          <p:nvPr/>
        </p:nvPicPr>
        <p:blipFill>
          <a:blip r:embed="rId3"/>
          <a:stretch>
            <a:fillRect/>
          </a:stretch>
        </p:blipFill>
        <p:spPr>
          <a:xfrm>
            <a:off x="3045844" y="1194264"/>
            <a:ext cx="8430353" cy="4739759"/>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a:extLst>
              <a:ext uri="{FF2B5EF4-FFF2-40B4-BE49-F238E27FC236}">
                <a16:creationId xmlns:a16="http://schemas.microsoft.com/office/drawing/2014/main" id="{1A91BF56-233A-DAE7-6B98-F16F178FA094}"/>
              </a:ext>
            </a:extLst>
          </p:cNvPr>
          <p:cNvPicPr>
            <a:picLocks noChangeAspect="1"/>
          </p:cNvPicPr>
          <p:nvPr/>
        </p:nvPicPr>
        <p:blipFill>
          <a:blip r:embed="rId3"/>
          <a:stretch>
            <a:fillRect/>
          </a:stretch>
        </p:blipFill>
        <p:spPr>
          <a:xfrm>
            <a:off x="1378507" y="1061587"/>
            <a:ext cx="9834136" cy="552900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A98CF0-4D57-2768-6206-66F0853C8D5E}"/>
              </a:ext>
            </a:extLst>
          </p:cNvPr>
          <p:cNvPicPr>
            <a:picLocks noChangeAspect="1"/>
          </p:cNvPicPr>
          <p:nvPr/>
        </p:nvPicPr>
        <p:blipFill>
          <a:blip r:embed="rId2"/>
          <a:stretch>
            <a:fillRect/>
          </a:stretch>
        </p:blipFill>
        <p:spPr>
          <a:xfrm>
            <a:off x="868680" y="490067"/>
            <a:ext cx="10652760" cy="5989253"/>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8FD7300A-2EB8-D9BD-0FF6-500A7F8BF8D5}"/>
              </a:ext>
            </a:extLst>
          </p:cNvPr>
          <p:cNvPicPr>
            <a:picLocks noChangeAspect="1"/>
          </p:cNvPicPr>
          <p:nvPr/>
        </p:nvPicPr>
        <p:blipFill>
          <a:blip r:embed="rId3"/>
          <a:stretch>
            <a:fillRect/>
          </a:stretch>
        </p:blipFill>
        <p:spPr>
          <a:xfrm>
            <a:off x="2085474" y="898358"/>
            <a:ext cx="7491663" cy="5486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US" b="1" dirty="0"/>
              <a:t>Role of Agentic AI in </a:t>
            </a:r>
            <a:r>
              <a:rPr lang="en-US" b="1" dirty="0" err="1"/>
              <a:t>ResearchMind</a:t>
            </a:r>
            <a:r>
              <a:rPr lang="en-US" b="1" dirty="0"/>
              <a:t> AI – Intelligent Research Companion</a:t>
            </a:r>
          </a:p>
          <a:p>
            <a:r>
              <a:rPr lang="en-US" b="1" dirty="0"/>
              <a:t>Overview</a:t>
            </a:r>
          </a:p>
          <a:p>
            <a:endParaRPr lang="en-US" b="1" dirty="0"/>
          </a:p>
          <a:p>
            <a:r>
              <a:rPr lang="en-US" dirty="0"/>
              <a:t>Agentic AI is the </a:t>
            </a:r>
            <a:r>
              <a:rPr lang="en-US" b="1" dirty="0"/>
              <a:t>core intelligence</a:t>
            </a:r>
            <a:r>
              <a:rPr lang="en-US" dirty="0"/>
              <a:t> behind </a:t>
            </a:r>
            <a:r>
              <a:rPr lang="en-US" dirty="0" err="1"/>
              <a:t>ResearchMind</a:t>
            </a:r>
            <a:r>
              <a:rPr lang="en-US" dirty="0"/>
              <a:t> AI. Rather than relying on a single AI model to answer research questions, the application employs a team of specialized AI agents powered by </a:t>
            </a:r>
            <a:r>
              <a:rPr lang="en-US" b="1" dirty="0"/>
              <a:t>IBM Granite Models</a:t>
            </a:r>
            <a:r>
              <a:rPr lang="en-US" dirty="0"/>
              <a:t> and coordinated through </a:t>
            </a:r>
            <a:r>
              <a:rPr lang="en-US" b="1" dirty="0"/>
              <a:t>IBM watsonx.ai Studio</a:t>
            </a:r>
            <a:r>
              <a:rPr lang="en-US" dirty="0"/>
              <a:t>. Each agent has a distinct responsibility and collaborates with the others to complete complex research tasks.</a:t>
            </a:r>
          </a:p>
          <a:p>
            <a:r>
              <a:rPr lang="en-US" dirty="0"/>
              <a:t>This mirrors the way a real research team works, where different experts contribute their knowledge to produce a comprehensive, evidence-based outcome.</a:t>
            </a:r>
          </a:p>
          <a:p>
            <a:endParaRPr lang="en-US" dirty="0"/>
          </a:p>
          <a:p>
            <a:r>
              <a:rPr lang="en-US" dirty="0"/>
              <a:t>In </a:t>
            </a:r>
            <a:r>
              <a:rPr lang="en-US" dirty="0" err="1"/>
              <a:t>ResearchMind</a:t>
            </a:r>
            <a:r>
              <a:rPr lang="en-US" dirty="0"/>
              <a:t> AI, Agentic AI transforms the application from a conventional chatbot into an intelligent research ecosystem. By orchestrating multiple IBM Granite-powered agents through IBM watsonx.ai Studio and combining their capabilities with a lightweight RAG pipeline, the system can retrieve research knowledge, synthesize literature, identify research gaps, forecast emerging trends, and generate actionable research plans. This collaborative, explainable, and modular architecture demonstrates how Agentic AI can support the complete research lifecycle, making the solution well suited for IBM </a:t>
            </a:r>
            <a:r>
              <a:rPr lang="en-US" dirty="0" err="1"/>
              <a:t>SkillsBuild</a:t>
            </a:r>
            <a:r>
              <a:rPr lang="en-US" dirty="0"/>
              <a:t>, hackathons, academic projects, and AI showcases.</a:t>
            </a:r>
          </a:p>
        </p:txBody>
      </p:sp>
      <p:pic>
        <p:nvPicPr>
          <p:cNvPr id="4" name="Picture 3" descr="What Is Agentic AI &amp; Is It The Next Big Thing?">
            <a:extLst>
              <a:ext uri="{FF2B5EF4-FFF2-40B4-BE49-F238E27FC236}">
                <a16:creationId xmlns:a16="http://schemas.microsoft.com/office/drawing/2014/main" id="{2B2CB2C5-858F-089D-7B4F-D53C45851452}"/>
              </a:ext>
            </a:extLst>
          </p:cNvPr>
          <p:cNvPicPr>
            <a:picLocks noChangeAspect="1"/>
          </p:cNvPicPr>
          <p:nvPr/>
        </p:nvPicPr>
        <p:blipFill>
          <a:blip r:embed="rId3"/>
          <a:stretch>
            <a:fillRect/>
          </a:stretch>
        </p:blipFill>
        <p:spPr>
          <a:xfrm>
            <a:off x="8492050" y="1850673"/>
            <a:ext cx="3348312" cy="30589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2146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D3C243AA-DC76-E191-DFD4-6CBCD00EF019}"/>
              </a:ext>
            </a:extLst>
          </p:cNvPr>
          <p:cNvPicPr>
            <a:picLocks noChangeAspect="1"/>
          </p:cNvPicPr>
          <p:nvPr/>
        </p:nvPicPr>
        <p:blipFill>
          <a:blip r:embed="rId3"/>
          <a:srcRect l="48617" t="31214" r="2210" b="18666"/>
          <a:stretch>
            <a:fillRect/>
          </a:stretch>
        </p:blipFill>
        <p:spPr>
          <a:xfrm>
            <a:off x="6096000" y="2517688"/>
            <a:ext cx="5710990" cy="3272662"/>
          </a:xfrm>
          <a:prstGeom prst="rect">
            <a:avLst/>
          </a:prstGeom>
        </p:spPr>
      </p:pic>
      <p:pic>
        <p:nvPicPr>
          <p:cNvPr id="8" name="Picture 7">
            <a:extLst>
              <a:ext uri="{FF2B5EF4-FFF2-40B4-BE49-F238E27FC236}">
                <a16:creationId xmlns:a16="http://schemas.microsoft.com/office/drawing/2014/main" id="{D6B310D3-4EFB-FEA4-1FBB-56E1B64CA0A5}"/>
              </a:ext>
            </a:extLst>
          </p:cNvPr>
          <p:cNvPicPr>
            <a:picLocks noChangeAspect="1"/>
          </p:cNvPicPr>
          <p:nvPr/>
        </p:nvPicPr>
        <p:blipFill>
          <a:blip r:embed="rId4"/>
          <a:srcRect l="48577" t="34874" r="1000" b="21139"/>
          <a:stretch>
            <a:fillRect/>
          </a:stretch>
        </p:blipFill>
        <p:spPr>
          <a:xfrm>
            <a:off x="385010" y="2517688"/>
            <a:ext cx="5557709" cy="327266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E8F6CCB7-52E1-F8E7-1E1F-039B1487AEF4}"/>
              </a:ext>
            </a:extLst>
          </p:cNvPr>
          <p:cNvPicPr>
            <a:picLocks noChangeAspect="1"/>
          </p:cNvPicPr>
          <p:nvPr/>
        </p:nvPicPr>
        <p:blipFill>
          <a:blip r:embed="rId3"/>
          <a:stretch>
            <a:fillRect/>
          </a:stretch>
        </p:blipFill>
        <p:spPr>
          <a:xfrm>
            <a:off x="409144" y="743166"/>
            <a:ext cx="11373712" cy="5798311"/>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54919577-A746-E6AB-F30B-2BE16BAFD0C3}"/>
              </a:ext>
            </a:extLst>
          </p:cNvPr>
          <p:cNvPicPr>
            <a:picLocks noChangeAspect="1"/>
          </p:cNvPicPr>
          <p:nvPr/>
        </p:nvPicPr>
        <p:blipFill>
          <a:blip r:embed="rId3"/>
          <a:stretch>
            <a:fillRect/>
          </a:stretch>
        </p:blipFill>
        <p:spPr>
          <a:xfrm>
            <a:off x="786384" y="816977"/>
            <a:ext cx="10680192" cy="5655232"/>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DD8B1285-F9C4-55F5-C8E7-3AC6EFC34801}"/>
              </a:ext>
            </a:extLst>
          </p:cNvPr>
          <p:cNvPicPr>
            <a:picLocks noChangeAspect="1"/>
          </p:cNvPicPr>
          <p:nvPr/>
        </p:nvPicPr>
        <p:blipFill>
          <a:blip r:embed="rId3"/>
          <a:stretch>
            <a:fillRect/>
          </a:stretch>
        </p:blipFill>
        <p:spPr>
          <a:xfrm>
            <a:off x="548640" y="816977"/>
            <a:ext cx="11234216" cy="5748415"/>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91312" y="484632"/>
            <a:ext cx="7309104"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591312" y="1202329"/>
            <a:ext cx="11301984" cy="4524315"/>
          </a:xfrm>
          <a:prstGeom prst="rect">
            <a:avLst/>
          </a:prstGeom>
          <a:noFill/>
        </p:spPr>
        <p:txBody>
          <a:bodyPr wrap="square" rtlCol="0">
            <a:spAutoFit/>
          </a:bodyPr>
          <a:lstStyle/>
          <a:p>
            <a:r>
              <a:rPr lang="en-US" sz="1800" b="1" dirty="0"/>
              <a:t>Novelty &amp; Uniqueness of </a:t>
            </a:r>
            <a:r>
              <a:rPr lang="en-US" sz="1800" b="1" dirty="0" err="1"/>
              <a:t>ResearchMind</a:t>
            </a:r>
            <a:r>
              <a:rPr lang="en-US" sz="1800" b="1" dirty="0"/>
              <a:t> AI</a:t>
            </a:r>
          </a:p>
          <a:p>
            <a:endParaRPr lang="en-US" sz="1800" b="1" dirty="0"/>
          </a:p>
          <a:p>
            <a:r>
              <a:rPr lang="en-US" sz="1800" dirty="0"/>
              <a:t>The main novelty is </a:t>
            </a:r>
            <a:r>
              <a:rPr lang="en-US" sz="1800" b="1" dirty="0"/>
              <a:t>not</a:t>
            </a:r>
            <a:r>
              <a:rPr lang="en-US" sz="1800" dirty="0"/>
              <a:t> simply using IBM Granite or RAG. The innovation comes from an </a:t>
            </a:r>
            <a:r>
              <a:rPr lang="en-US" sz="1800" b="1" dirty="0"/>
              <a:t>Agentic AI architecture</a:t>
            </a:r>
            <a:r>
              <a:rPr lang="en-US" sz="1800" dirty="0"/>
              <a:t> where multiple specialized Granite-powered agents collaborate under an orchestrator to perform an end-to-end research workflow.</a:t>
            </a:r>
          </a:p>
          <a:p>
            <a:endParaRPr lang="en-US" sz="1800" dirty="0"/>
          </a:p>
          <a:p>
            <a:r>
              <a:rPr lang="en-US" sz="1800" dirty="0"/>
              <a:t>1. Agentic AI Research Team (Core Innovation)</a:t>
            </a:r>
          </a:p>
          <a:p>
            <a:r>
              <a:rPr lang="en-US" sz="1800" dirty="0"/>
              <a:t>2. Multi-Agent Collaboration</a:t>
            </a:r>
          </a:p>
          <a:p>
            <a:r>
              <a:rPr lang="en-US" sz="1800" dirty="0"/>
              <a:t>3. IBM Granite-Powered Scientific Reasoning</a:t>
            </a:r>
          </a:p>
          <a:p>
            <a:r>
              <a:rPr lang="en-US" sz="1800" dirty="0"/>
              <a:t>4. Agentic RAG (Beyond Traditional RAG)</a:t>
            </a:r>
          </a:p>
          <a:p>
            <a:r>
              <a:rPr lang="en-US" sz="1800" dirty="0"/>
              <a:t>5. Autonomous Research Planning</a:t>
            </a:r>
          </a:p>
          <a:p>
            <a:r>
              <a:rPr lang="en-US" sz="1800" dirty="0"/>
              <a:t>6. Explainable Agent Workflow</a:t>
            </a:r>
          </a:p>
          <a:p>
            <a:r>
              <a:rPr lang="en-US" sz="1800" dirty="0"/>
              <a:t>7. Research Knowledge Graph</a:t>
            </a:r>
          </a:p>
          <a:p>
            <a:r>
              <a:rPr lang="en-US" sz="1800" dirty="0"/>
              <a:t>8. Automatic Research Gap Discovery</a:t>
            </a:r>
          </a:p>
          <a:p>
            <a:r>
              <a:rPr lang="en-US" sz="1800" dirty="0"/>
              <a:t>9. Trend Forecasting Agent</a:t>
            </a:r>
          </a:p>
          <a:p>
            <a:r>
              <a:rPr lang="en-US" sz="1800" dirty="0"/>
              <a:t>10. Intelligent Research Advisor</a:t>
            </a:r>
            <a:endParaRPr lang="en-IN" sz="1800" dirty="0"/>
          </a:p>
        </p:txBody>
      </p:sp>
    </p:spTree>
    <p:extLst>
      <p:ext uri="{BB962C8B-B14F-4D97-AF65-F5344CB8AC3E}">
        <p14:creationId xmlns:p14="http://schemas.microsoft.com/office/powerpoint/2010/main" val="917964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https://github.com/skdas-it/SSU-FDP.git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10028396" cy="5215556"/>
          </a:xfrm>
          <a:prstGeom prst="rect">
            <a:avLst/>
          </a:prstGeom>
          <a:noFill/>
          <a:ln>
            <a:noFill/>
          </a:ln>
        </p:spPr>
        <p:txBody>
          <a:bodyPr spcFirstLastPara="1" wrap="square" lIns="0" tIns="0" rIns="0" bIns="0" anchor="t" anchorCtr="0">
            <a:noAutofit/>
          </a:bodyPr>
          <a:lstStyle/>
          <a:p>
            <a:r>
              <a:rPr lang="en-US" sz="2000" b="1" dirty="0"/>
              <a:t>Future Scope of </a:t>
            </a:r>
            <a:r>
              <a:rPr lang="en-US" sz="2000" b="1" dirty="0" err="1"/>
              <a:t>ResearchMind</a:t>
            </a:r>
            <a:r>
              <a:rPr lang="en-US" sz="2000" b="1" dirty="0"/>
              <a:t> AI – Intelligent Research Companion</a:t>
            </a:r>
          </a:p>
          <a:p>
            <a:r>
              <a:rPr lang="en-US" sz="2000" dirty="0" err="1"/>
              <a:t>ResearchMind</a:t>
            </a:r>
            <a:r>
              <a:rPr lang="en-US" sz="2000" dirty="0"/>
              <a:t> </a:t>
            </a:r>
          </a:p>
          <a:p>
            <a:r>
              <a:rPr lang="en-US" sz="2000" dirty="0"/>
              <a:t>AI is designed as a foundation for an advanced </a:t>
            </a:r>
            <a:r>
              <a:rPr lang="en-US" sz="2000" b="1" dirty="0"/>
              <a:t>Agentic AI-powered research ecosystem</a:t>
            </a:r>
            <a:r>
              <a:rPr lang="en-US" sz="2000" dirty="0"/>
              <a:t>. While the initial implementation demonstrates IBM Granite Models, IBM watsonx.ai Studio, multi-agent collaboration, and a lightweight RAG system, there are numerous opportunities for future enhancements.</a:t>
            </a:r>
          </a:p>
          <a:p>
            <a:r>
              <a:rPr lang="en-US" sz="2000" dirty="0"/>
              <a:t>1. Autonomous Research Agents</a:t>
            </a:r>
          </a:p>
          <a:p>
            <a:pPr lvl="0">
              <a:lnSpc>
                <a:spcPct val="162162"/>
              </a:lnSpc>
              <a:buClr>
                <a:srgbClr val="2B3541"/>
              </a:buClr>
              <a:buSzPts val="1850"/>
            </a:pPr>
            <a:r>
              <a:rPr lang="en-US" sz="2000" dirty="0"/>
              <a:t>2. Integration with Academic Research Databases</a:t>
            </a:r>
          </a:p>
          <a:p>
            <a:pPr lvl="0">
              <a:lnSpc>
                <a:spcPct val="162162"/>
              </a:lnSpc>
              <a:buClr>
                <a:srgbClr val="2B3541"/>
              </a:buClr>
              <a:buSzPts val="1850"/>
            </a:pPr>
            <a:r>
              <a:rPr lang="en-US" sz="2000" dirty="0"/>
              <a:t>3. Advanced RAG Architecture</a:t>
            </a:r>
          </a:p>
          <a:p>
            <a:pPr lvl="0">
              <a:lnSpc>
                <a:spcPct val="162162"/>
              </a:lnSpc>
              <a:buClr>
                <a:srgbClr val="2B3541"/>
              </a:buClr>
              <a:buSzPts val="1850"/>
            </a:pPr>
            <a:r>
              <a:rPr lang="en-US" sz="2000" dirty="0"/>
              <a:t>4. Graph-Based Research Intelligence</a:t>
            </a:r>
          </a:p>
          <a:p>
            <a:pPr lvl="0">
              <a:lnSpc>
                <a:spcPct val="162162"/>
              </a:lnSpc>
              <a:buClr>
                <a:srgbClr val="2B3541"/>
              </a:buClr>
              <a:buSzPts val="1850"/>
            </a:pPr>
            <a:r>
              <a:rPr lang="en-US" sz="2000" dirty="0"/>
              <a:t>5. AI-Powered Citation Intelligence</a:t>
            </a:r>
          </a:p>
          <a:p>
            <a:pPr lvl="0">
              <a:lnSpc>
                <a:spcPct val="162162"/>
              </a:lnSpc>
              <a:buClr>
                <a:srgbClr val="2B3541"/>
              </a:buClr>
              <a:buSzPts val="1850"/>
            </a:pPr>
            <a:r>
              <a:rPr lang="en-US" sz="2000" dirty="0"/>
              <a:t>6. Multi-Modal Research Understanding</a:t>
            </a:r>
          </a:p>
          <a:p>
            <a:pPr lvl="0">
              <a:lnSpc>
                <a:spcPct val="162162"/>
              </a:lnSpc>
              <a:buClr>
                <a:srgbClr val="2B3541"/>
              </a:buClr>
              <a:buSzPts val="1850"/>
            </a:pPr>
            <a:r>
              <a:rPr lang="en-US" sz="2000" dirty="0"/>
              <a:t>7. Scientific Experiment Planning</a:t>
            </a:r>
          </a:p>
          <a:p>
            <a:pPr lvl="0">
              <a:lnSpc>
                <a:spcPct val="162162"/>
              </a:lnSpc>
              <a:buClr>
                <a:srgbClr val="2B3541"/>
              </a:buClr>
              <a:buSzPts val="1850"/>
            </a:pPr>
            <a:endParaRPr lang="en-US" sz="2000" dirty="0"/>
          </a:p>
          <a:p>
            <a:pPr lvl="0">
              <a:lnSpc>
                <a:spcPct val="162162"/>
              </a:lnSpc>
              <a:buClr>
                <a:srgbClr val="2B3541"/>
              </a:buClr>
              <a:buSzPts val="1850"/>
            </a:pPr>
            <a:endParaRPr lang="en-US" sz="2000" dirty="0"/>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91A65000-E00C-CE65-8439-1C653B5D610C}"/>
              </a:ext>
            </a:extLst>
          </p:cNvPr>
          <p:cNvPicPr>
            <a:picLocks noChangeAspect="1"/>
          </p:cNvPicPr>
          <p:nvPr/>
        </p:nvPicPr>
        <p:blipFill>
          <a:blip r:embed="rId2"/>
          <a:srcRect l="24600" t="19921" r="24550" b="12399"/>
          <a:stretch>
            <a:fillRect/>
          </a:stretch>
        </p:blipFill>
        <p:spPr>
          <a:xfrm>
            <a:off x="2321341" y="1528734"/>
            <a:ext cx="6199632" cy="463920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7B6D0C89-66C7-8DCE-8F71-E94DF034F9CA}"/>
              </a:ext>
            </a:extLst>
          </p:cNvPr>
          <p:cNvPicPr>
            <a:picLocks noChangeAspect="1"/>
          </p:cNvPicPr>
          <p:nvPr/>
        </p:nvPicPr>
        <p:blipFill>
          <a:blip r:embed="rId2"/>
          <a:srcRect l="18600" t="20385" r="22500" b="11652"/>
          <a:stretch>
            <a:fillRect/>
          </a:stretch>
        </p:blipFill>
        <p:spPr>
          <a:xfrm>
            <a:off x="2300919" y="1236946"/>
            <a:ext cx="7181088" cy="4658578"/>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523</TotalTime>
  <Words>1272</Words>
  <Application>Microsoft Office PowerPoint</Application>
  <PresentationFormat>Widescreen</PresentationFormat>
  <Paragraphs>156</Paragraphs>
  <Slides>20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Courier New</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Dr.Sukanta Kumar Das</cp:lastModifiedBy>
  <cp:revision>11</cp:revision>
  <dcterms:created xsi:type="dcterms:W3CDTF">2025-07-08T05:06:56Z</dcterms:created>
  <dcterms:modified xsi:type="dcterms:W3CDTF">2026-07-10T07:28:01Z</dcterms:modified>
</cp:coreProperties>
</file>